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42"/>
  </p:notesMasterIdLst>
  <p:sldIdLst>
    <p:sldId id="256" r:id="rId3"/>
    <p:sldId id="257" r:id="rId4"/>
    <p:sldId id="258" r:id="rId5"/>
    <p:sldId id="335" r:id="rId6"/>
    <p:sldId id="259" r:id="rId7"/>
    <p:sldId id="336" r:id="rId8"/>
    <p:sldId id="283" r:id="rId9"/>
    <p:sldId id="337" r:id="rId10"/>
    <p:sldId id="285" r:id="rId11"/>
    <p:sldId id="341" r:id="rId12"/>
    <p:sldId id="339" r:id="rId13"/>
    <p:sldId id="350" r:id="rId14"/>
    <p:sldId id="342" r:id="rId15"/>
    <p:sldId id="351" r:id="rId16"/>
    <p:sldId id="343" r:id="rId17"/>
    <p:sldId id="352" r:id="rId18"/>
    <p:sldId id="344" r:id="rId19"/>
    <p:sldId id="355" r:id="rId20"/>
    <p:sldId id="357" r:id="rId21"/>
    <p:sldId id="297" r:id="rId22"/>
    <p:sldId id="359" r:id="rId23"/>
    <p:sldId id="354" r:id="rId24"/>
    <p:sldId id="360" r:id="rId25"/>
    <p:sldId id="361" r:id="rId26"/>
    <p:sldId id="362" r:id="rId27"/>
    <p:sldId id="363" r:id="rId28"/>
    <p:sldId id="367" r:id="rId29"/>
    <p:sldId id="368" r:id="rId30"/>
    <p:sldId id="364" r:id="rId31"/>
    <p:sldId id="369" r:id="rId32"/>
    <p:sldId id="370" r:id="rId33"/>
    <p:sldId id="365" r:id="rId34"/>
    <p:sldId id="371" r:id="rId35"/>
    <p:sldId id="372" r:id="rId36"/>
    <p:sldId id="366" r:id="rId37"/>
    <p:sldId id="373" r:id="rId38"/>
    <p:sldId id="374" r:id="rId39"/>
    <p:sldId id="322" r:id="rId40"/>
    <p:sldId id="338" r:id="rId4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2022"/>
    <a:srgbClr val="689C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41" autoAdjust="0"/>
  </p:normalViewPr>
  <p:slideViewPr>
    <p:cSldViewPr>
      <p:cViewPr varScale="1">
        <p:scale>
          <a:sx n="83" d="100"/>
          <a:sy n="83" d="100"/>
        </p:scale>
        <p:origin x="65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E1F8319-4FCB-4157-A12B-9C22E1279CDE}" type="datetimeFigureOut">
              <a:rPr lang="en-IN" smtClean="0"/>
              <a:t>18-02-2026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AF7FD28-4377-4084-9498-C0F34B5AE7F9}" type="slidenum">
              <a:rPr lang="en-IN" smtClean="0"/>
              <a:t>‹#›</a:t>
            </a:fld>
            <a:endParaRPr lang="en-IN"/>
          </a:p>
        </p:txBody>
      </p:sp>
    </p:spTree>
    <p:extLst>
      <p:ext uri="{BB962C8B-B14F-4D97-AF65-F5344CB8AC3E}">
        <p14:creationId xmlns:p14="http://schemas.microsoft.com/office/powerpoint/2010/main" val="2016383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7FD28-4377-4084-9498-C0F34B5AE7F9}" type="slidenum">
              <a:rPr lang="en-IN" smtClean="0"/>
              <a:t>11</a:t>
            </a:fld>
            <a:endParaRPr lang="en-IN"/>
          </a:p>
        </p:txBody>
      </p:sp>
    </p:spTree>
    <p:extLst>
      <p:ext uri="{BB962C8B-B14F-4D97-AF65-F5344CB8AC3E}">
        <p14:creationId xmlns:p14="http://schemas.microsoft.com/office/powerpoint/2010/main" val="693938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7" name="Holder 7"/>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5" name="Holder 5"/>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4572000"/>
          </a:xfrm>
          <a:custGeom>
            <a:avLst/>
            <a:gdLst/>
            <a:ahLst/>
            <a:cxnLst/>
            <a:rect l="l" t="t" r="r" b="b"/>
            <a:pathLst>
              <a:path w="12192000" h="4572000">
                <a:moveTo>
                  <a:pt x="12192000" y="0"/>
                </a:moveTo>
                <a:lnTo>
                  <a:pt x="0" y="0"/>
                </a:lnTo>
                <a:lnTo>
                  <a:pt x="0" y="4572000"/>
                </a:lnTo>
                <a:lnTo>
                  <a:pt x="12192000" y="4572000"/>
                </a:lnTo>
                <a:lnTo>
                  <a:pt x="12192000" y="0"/>
                </a:lnTo>
                <a:close/>
              </a:path>
            </a:pathLst>
          </a:custGeom>
          <a:solidFill>
            <a:srgbClr val="9CBDBC"/>
          </a:solidFill>
        </p:spPr>
        <p:txBody>
          <a:bodyPr wrap="square" lIns="0" tIns="0" rIns="0" bIns="0" rtlCol="0"/>
          <a:lstStyle/>
          <a:p>
            <a:endParaRPr/>
          </a:p>
        </p:txBody>
      </p:sp>
      <p:sp>
        <p:nvSpPr>
          <p:cNvPr id="17" name="bg object 17"/>
          <p:cNvSpPr/>
          <p:nvPr/>
        </p:nvSpPr>
        <p:spPr>
          <a:xfrm>
            <a:off x="8386826" y="5264150"/>
            <a:ext cx="0" cy="914400"/>
          </a:xfrm>
          <a:custGeom>
            <a:avLst/>
            <a:gdLst/>
            <a:ahLst/>
            <a:cxnLst/>
            <a:rect l="l" t="t" r="r" b="b"/>
            <a:pathLst>
              <a:path h="914400">
                <a:moveTo>
                  <a:pt x="0" y="914361"/>
                </a:moveTo>
                <a:lnTo>
                  <a:pt x="0" y="0"/>
                </a:lnTo>
              </a:path>
            </a:pathLst>
          </a:custGeom>
          <a:ln w="19046">
            <a:solidFill>
              <a:srgbClr val="9CBDBC"/>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4" name="Holder 4"/>
          <p:cNvSpPr>
            <a:spLocks noGrp="1"/>
          </p:cNvSpPr>
          <p:nvPr>
            <p:ph type="sldNum" sz="quarter" idx="7"/>
          </p:nvPr>
        </p:nvSpPr>
        <p:spPr/>
        <p:txBody>
          <a:bodyPr lIns="0" tIns="0" rIns="0" bIns="0"/>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5278269-765C-4203-9664-EAA1242121E7}" type="datetime1">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88C99-5207-49E7-AC01-B263DD2E34EB}"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84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8EBB4-B415-4E7B-AF64-1B6E09310209}" type="datetime1">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241808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DC1A0-C400-4756-958E-6966B020D57B}" type="datetime1">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88C99-5207-49E7-AC01-B263DD2E34EB}"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04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B4412A-530E-4EFF-BDC5-2A4CBB74CCCC}" type="datetime1">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407139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4EF3AF-3641-4B5B-A163-A35702B72229}" type="datetime1">
              <a:rPr lang="en-IN" smtClean="0"/>
              <a:t>18-02-2026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317252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83D657-92EA-49CF-84ED-A3470AD5B93B}" type="datetime1">
              <a:rPr lang="en-IN" smtClean="0"/>
              <a:t>18-02-2026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2123123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F75AB-1BBB-4E98-8139-DA301E699DD2}" type="datetime1">
              <a:rPr lang="en-IN" smtClean="0"/>
              <a:t>18-02-2026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3159918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22ED01-D93A-4DC2-B325-CE1E666FE93F}" type="datetime1">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1066356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6946A5-DF5B-41B7-A94A-C3B9EDC343FC}" type="datetime1">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4488C99-5207-49E7-AC01-B263DD2E34EB}" type="slidenum">
              <a:rPr lang="en-IN" smtClean="0"/>
              <a:t>‹#›</a:t>
            </a:fld>
            <a:endParaRPr lang="en-IN"/>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2390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8F75D1-6D2B-4EE2-83C8-2307EAE42668}" type="datetime1">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88C99-5207-49E7-AC01-B263DD2E34EB}" type="slidenum">
              <a:rPr lang="en-IN" smtClean="0"/>
              <a:t>‹#›</a:t>
            </a:fld>
            <a:endParaRPr lang="en-IN"/>
          </a:p>
        </p:txBody>
      </p:sp>
    </p:spTree>
    <p:extLst>
      <p:ext uri="{BB962C8B-B14F-4D97-AF65-F5344CB8AC3E}">
        <p14:creationId xmlns:p14="http://schemas.microsoft.com/office/powerpoint/2010/main" val="937729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563A1E-E7E5-4297-9B88-92D04B7AF3EE}" type="datetime1">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88C99-5207-49E7-AC01-B263DD2E34EB}"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04134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47802" y="252984"/>
            <a:ext cx="11496395" cy="969721"/>
          </a:xfrm>
          <a:prstGeom prst="rect">
            <a:avLst/>
          </a:prstGeom>
        </p:spPr>
        <p:txBody>
          <a:bodyPr wrap="square" lIns="0" tIns="0" rIns="0" bIns="0">
            <a:spAutoFit/>
          </a:bodyPr>
          <a:lstStyle>
            <a:lvl1pPr>
              <a:defRPr sz="25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710285" y="2681668"/>
            <a:ext cx="5745480" cy="4095115"/>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2/18/2026</a:t>
            </a:fld>
            <a:endParaRPr lang="en-US"/>
          </a:p>
        </p:txBody>
      </p:sp>
      <p:sp>
        <p:nvSpPr>
          <p:cNvPr id="6" name="Holder 6"/>
          <p:cNvSpPr>
            <a:spLocks noGrp="1"/>
          </p:cNvSpPr>
          <p:nvPr>
            <p:ph type="sldNum" sz="quarter" idx="7"/>
          </p:nvPr>
        </p:nvSpPr>
        <p:spPr>
          <a:xfrm>
            <a:off x="10892028" y="6501333"/>
            <a:ext cx="320675" cy="254000"/>
          </a:xfrm>
          <a:prstGeom prst="rect">
            <a:avLst/>
          </a:prstGeom>
        </p:spPr>
        <p:txBody>
          <a:bodyPr wrap="square" lIns="0" tIns="0" rIns="0" bIns="0">
            <a:spAutoFit/>
          </a:bodyPr>
          <a:lstStyle>
            <a:lvl1pPr>
              <a:defRPr sz="1800" b="0" i="0">
                <a:solidFill>
                  <a:schemeClr val="tx1"/>
                </a:solidFill>
                <a:latin typeface="Calibri"/>
                <a:cs typeface="Calibri"/>
              </a:defRPr>
            </a:lvl1pPr>
          </a:lstStyle>
          <a:p>
            <a:pPr marL="38100">
              <a:lnSpc>
                <a:spcPts val="181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1BCC9371-C532-4EB0-B6A9-8C615DAE756A}" type="datetime1">
              <a:rPr lang="en-IN" smtClean="0"/>
              <a:t>18-02-2026</a:t>
            </a:fld>
            <a:endParaRPr lang="en-IN"/>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IN"/>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24488C99-5207-49E7-AC01-B263DD2E34EB}"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655518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5250891"/>
            <a:ext cx="5357495" cy="819150"/>
          </a:xfrm>
          <a:prstGeom prst="rect">
            <a:avLst/>
          </a:prstGeom>
        </p:spPr>
        <p:txBody>
          <a:bodyPr vert="horz" wrap="square" lIns="0" tIns="13335" rIns="0" bIns="0" rtlCol="0">
            <a:spAutoFit/>
          </a:bodyPr>
          <a:lstStyle/>
          <a:p>
            <a:pPr marL="12700">
              <a:lnSpc>
                <a:spcPts val="2160"/>
              </a:lnSpc>
              <a:spcBef>
                <a:spcPts val="105"/>
              </a:spcBef>
            </a:pPr>
            <a:r>
              <a:rPr lang="en-IN" sz="2000" b="1" spc="150" dirty="0">
                <a:solidFill>
                  <a:srgbClr val="001F5F"/>
                </a:solidFill>
                <a:latin typeface="Times New Roman"/>
                <a:cs typeface="Times New Roman"/>
              </a:rPr>
              <a:t>THARIYAN NIRMAL JOHN</a:t>
            </a:r>
            <a:endParaRPr sz="2000" dirty="0">
              <a:latin typeface="Times New Roman"/>
              <a:cs typeface="Times New Roman"/>
            </a:endParaRPr>
          </a:p>
          <a:p>
            <a:pPr marL="12700">
              <a:lnSpc>
                <a:spcPts val="1920"/>
              </a:lnSpc>
            </a:pPr>
            <a:r>
              <a:rPr sz="2000" b="1" dirty="0">
                <a:solidFill>
                  <a:srgbClr val="CC0099"/>
                </a:solidFill>
                <a:latin typeface="Times New Roman"/>
                <a:cs typeface="Times New Roman"/>
              </a:rPr>
              <a:t>S</a:t>
            </a:r>
            <a:r>
              <a:rPr sz="2000" b="1" spc="-300" dirty="0">
                <a:solidFill>
                  <a:srgbClr val="CC0099"/>
                </a:solidFill>
                <a:latin typeface="Times New Roman"/>
                <a:cs typeface="Times New Roman"/>
              </a:rPr>
              <a:t> </a:t>
            </a:r>
            <a:r>
              <a:rPr sz="2000" b="1" dirty="0">
                <a:solidFill>
                  <a:srgbClr val="CC0099"/>
                </a:solidFill>
                <a:latin typeface="Times New Roman"/>
                <a:cs typeface="Times New Roman"/>
              </a:rPr>
              <a:t>6</a:t>
            </a:r>
            <a:r>
              <a:rPr sz="2000" b="1" spc="395" dirty="0">
                <a:solidFill>
                  <a:srgbClr val="CC0099"/>
                </a:solidFill>
                <a:latin typeface="Times New Roman"/>
                <a:cs typeface="Times New Roman"/>
              </a:rPr>
              <a:t> </a:t>
            </a:r>
            <a:r>
              <a:rPr sz="2000" b="1" spc="90" dirty="0">
                <a:solidFill>
                  <a:srgbClr val="CC0099"/>
                </a:solidFill>
                <a:latin typeface="Times New Roman"/>
                <a:cs typeface="Times New Roman"/>
              </a:rPr>
              <a:t>B.</a:t>
            </a:r>
            <a:r>
              <a:rPr sz="2000" b="1" spc="-300" dirty="0">
                <a:solidFill>
                  <a:srgbClr val="CC0099"/>
                </a:solidFill>
                <a:latin typeface="Times New Roman"/>
                <a:cs typeface="Times New Roman"/>
              </a:rPr>
              <a:t> </a:t>
            </a:r>
            <a:r>
              <a:rPr sz="2000" b="1" spc="110" dirty="0">
                <a:solidFill>
                  <a:srgbClr val="CC0099"/>
                </a:solidFill>
                <a:latin typeface="Times New Roman"/>
                <a:cs typeface="Times New Roman"/>
              </a:rPr>
              <a:t>VOC</a:t>
            </a:r>
            <a:r>
              <a:rPr sz="2000" b="1" spc="370" dirty="0">
                <a:solidFill>
                  <a:srgbClr val="CC0099"/>
                </a:solidFill>
                <a:latin typeface="Times New Roman"/>
                <a:cs typeface="Times New Roman"/>
              </a:rPr>
              <a:t> </a:t>
            </a:r>
            <a:r>
              <a:rPr sz="2000" b="1" spc="60" dirty="0">
                <a:solidFill>
                  <a:srgbClr val="CC0099"/>
                </a:solidFill>
                <a:latin typeface="Times New Roman"/>
                <a:cs typeface="Times New Roman"/>
              </a:rPr>
              <a:t>DATA</a:t>
            </a:r>
            <a:r>
              <a:rPr sz="2000" b="1" spc="275" dirty="0">
                <a:solidFill>
                  <a:srgbClr val="CC0099"/>
                </a:solidFill>
                <a:latin typeface="Times New Roman"/>
                <a:cs typeface="Times New Roman"/>
              </a:rPr>
              <a:t> </a:t>
            </a:r>
            <a:r>
              <a:rPr sz="2000" b="1" spc="150" dirty="0">
                <a:solidFill>
                  <a:srgbClr val="CC0099"/>
                </a:solidFill>
                <a:latin typeface="Times New Roman"/>
                <a:cs typeface="Times New Roman"/>
              </a:rPr>
              <a:t>SCIENCE</a:t>
            </a:r>
            <a:endParaRPr sz="2000" dirty="0">
              <a:latin typeface="Times New Roman"/>
              <a:cs typeface="Times New Roman"/>
            </a:endParaRPr>
          </a:p>
          <a:p>
            <a:pPr marL="12700">
              <a:lnSpc>
                <a:spcPts val="2160"/>
              </a:lnSpc>
            </a:pPr>
            <a:r>
              <a:rPr sz="2000" b="1" spc="140" dirty="0">
                <a:solidFill>
                  <a:srgbClr val="CC0099"/>
                </a:solidFill>
                <a:latin typeface="Times New Roman"/>
                <a:cs typeface="Times New Roman"/>
              </a:rPr>
              <a:t>REG.</a:t>
            </a:r>
            <a:r>
              <a:rPr sz="2000" b="1" spc="-300" dirty="0">
                <a:solidFill>
                  <a:srgbClr val="CC0099"/>
                </a:solidFill>
                <a:latin typeface="Times New Roman"/>
                <a:cs typeface="Times New Roman"/>
              </a:rPr>
              <a:t> </a:t>
            </a:r>
            <a:r>
              <a:rPr sz="2000" b="1" spc="95" dirty="0">
                <a:solidFill>
                  <a:srgbClr val="CC0099"/>
                </a:solidFill>
                <a:latin typeface="Times New Roman"/>
                <a:cs typeface="Times New Roman"/>
              </a:rPr>
              <a:t>NO</a:t>
            </a:r>
            <a:r>
              <a:rPr sz="2000" b="1" spc="360" dirty="0">
                <a:solidFill>
                  <a:srgbClr val="CC0099"/>
                </a:solidFill>
                <a:latin typeface="Times New Roman"/>
                <a:cs typeface="Times New Roman"/>
              </a:rPr>
              <a:t> </a:t>
            </a:r>
            <a:r>
              <a:rPr sz="2000" b="1" dirty="0">
                <a:solidFill>
                  <a:srgbClr val="CC0099"/>
                </a:solidFill>
                <a:latin typeface="Times New Roman"/>
                <a:cs typeface="Times New Roman"/>
              </a:rPr>
              <a:t>:</a:t>
            </a:r>
            <a:r>
              <a:rPr sz="2000" b="1" spc="-290" dirty="0">
                <a:solidFill>
                  <a:srgbClr val="CC0099"/>
                </a:solidFill>
                <a:latin typeface="Times New Roman"/>
                <a:cs typeface="Times New Roman"/>
              </a:rPr>
              <a:t> </a:t>
            </a:r>
            <a:r>
              <a:rPr sz="2000" b="1" spc="130" dirty="0">
                <a:solidFill>
                  <a:srgbClr val="CC0099"/>
                </a:solidFill>
                <a:latin typeface="Times New Roman"/>
                <a:cs typeface="Times New Roman"/>
              </a:rPr>
              <a:t>THA</a:t>
            </a:r>
            <a:r>
              <a:rPr lang="en-IN" sz="2000" b="1" spc="130" dirty="0">
                <a:solidFill>
                  <a:srgbClr val="CC0099"/>
                </a:solidFill>
                <a:latin typeface="Times New Roman"/>
                <a:cs typeface="Times New Roman"/>
              </a:rPr>
              <a:t>XBOA022</a:t>
            </a:r>
            <a:endParaRPr sz="2000" dirty="0">
              <a:latin typeface="Times New Roman"/>
              <a:cs typeface="Times New Roman"/>
            </a:endParaRPr>
          </a:p>
        </p:txBody>
      </p:sp>
      <p:sp>
        <p:nvSpPr>
          <p:cNvPr id="3" name="object 3"/>
          <p:cNvSpPr txBox="1"/>
          <p:nvPr/>
        </p:nvSpPr>
        <p:spPr>
          <a:xfrm>
            <a:off x="9621773" y="4943347"/>
            <a:ext cx="2110740" cy="1175385"/>
          </a:xfrm>
          <a:prstGeom prst="rect">
            <a:avLst/>
          </a:prstGeom>
        </p:spPr>
        <p:txBody>
          <a:bodyPr vert="horz" wrap="square" lIns="0" tIns="12700" rIns="0" bIns="0" rtlCol="0">
            <a:spAutoFit/>
          </a:bodyPr>
          <a:lstStyle/>
          <a:p>
            <a:pPr marL="76200" marR="5080" indent="130810">
              <a:lnSpc>
                <a:spcPct val="109400"/>
              </a:lnSpc>
              <a:spcBef>
                <a:spcPts val="100"/>
              </a:spcBef>
            </a:pPr>
            <a:r>
              <a:rPr sz="1800" b="1" spc="-45" dirty="0">
                <a:solidFill>
                  <a:srgbClr val="001F5F"/>
                </a:solidFill>
                <a:latin typeface="Times New Roman"/>
                <a:cs typeface="Times New Roman"/>
              </a:rPr>
              <a:t>Mr.</a:t>
            </a:r>
            <a:r>
              <a:rPr sz="1800" b="1" spc="-50" dirty="0">
                <a:solidFill>
                  <a:srgbClr val="001F5F"/>
                </a:solidFill>
                <a:latin typeface="Times New Roman"/>
                <a:cs typeface="Times New Roman"/>
              </a:rPr>
              <a:t> </a:t>
            </a:r>
            <a:r>
              <a:rPr sz="1800" b="1" dirty="0">
                <a:solidFill>
                  <a:srgbClr val="001F5F"/>
                </a:solidFill>
                <a:latin typeface="Times New Roman"/>
                <a:cs typeface="Times New Roman"/>
              </a:rPr>
              <a:t>Rejin</a:t>
            </a:r>
            <a:r>
              <a:rPr sz="1800" b="1" spc="-90" dirty="0">
                <a:solidFill>
                  <a:srgbClr val="001F5F"/>
                </a:solidFill>
                <a:latin typeface="Times New Roman"/>
                <a:cs typeface="Times New Roman"/>
              </a:rPr>
              <a:t> </a:t>
            </a:r>
            <a:r>
              <a:rPr sz="1800" b="1" spc="-25" dirty="0">
                <a:solidFill>
                  <a:srgbClr val="001F5F"/>
                </a:solidFill>
                <a:latin typeface="Times New Roman"/>
                <a:cs typeface="Times New Roman"/>
              </a:rPr>
              <a:t>Varghese </a:t>
            </a:r>
            <a:r>
              <a:rPr sz="1800" b="1" dirty="0">
                <a:solidFill>
                  <a:srgbClr val="CC0099"/>
                </a:solidFill>
                <a:latin typeface="Times New Roman"/>
                <a:cs typeface="Times New Roman"/>
              </a:rPr>
              <a:t>Research</a:t>
            </a:r>
            <a:r>
              <a:rPr sz="1800" b="1" spc="-95" dirty="0">
                <a:solidFill>
                  <a:srgbClr val="CC0099"/>
                </a:solidFill>
                <a:latin typeface="Times New Roman"/>
                <a:cs typeface="Times New Roman"/>
              </a:rPr>
              <a:t> </a:t>
            </a:r>
            <a:r>
              <a:rPr sz="1800" b="1" spc="-10" dirty="0">
                <a:solidFill>
                  <a:srgbClr val="CC0099"/>
                </a:solidFill>
                <a:latin typeface="Times New Roman"/>
                <a:cs typeface="Times New Roman"/>
              </a:rPr>
              <a:t>Supervisor</a:t>
            </a:r>
            <a:endParaRPr sz="1800">
              <a:latin typeface="Times New Roman"/>
              <a:cs typeface="Times New Roman"/>
            </a:endParaRPr>
          </a:p>
          <a:p>
            <a:pPr marR="5080" algn="r">
              <a:lnSpc>
                <a:spcPts val="2145"/>
              </a:lnSpc>
              <a:spcBef>
                <a:spcPts val="35"/>
              </a:spcBef>
            </a:pPr>
            <a:r>
              <a:rPr sz="1800" b="1" spc="-25" dirty="0">
                <a:solidFill>
                  <a:srgbClr val="CC0099"/>
                </a:solidFill>
                <a:latin typeface="Times New Roman"/>
                <a:cs typeface="Times New Roman"/>
              </a:rPr>
              <a:t>HOD</a:t>
            </a:r>
            <a:endParaRPr sz="1800">
              <a:latin typeface="Times New Roman"/>
              <a:cs typeface="Times New Roman"/>
            </a:endParaRPr>
          </a:p>
          <a:p>
            <a:pPr marL="12700">
              <a:lnSpc>
                <a:spcPts val="2145"/>
              </a:lnSpc>
            </a:pPr>
            <a:r>
              <a:rPr sz="1800" b="1" dirty="0">
                <a:solidFill>
                  <a:srgbClr val="CC0099"/>
                </a:solidFill>
                <a:latin typeface="Times New Roman"/>
                <a:cs typeface="Times New Roman"/>
              </a:rPr>
              <a:t>Dept.</a:t>
            </a:r>
            <a:r>
              <a:rPr sz="1800" b="1" spc="-35" dirty="0">
                <a:solidFill>
                  <a:srgbClr val="CC0099"/>
                </a:solidFill>
                <a:latin typeface="Times New Roman"/>
                <a:cs typeface="Times New Roman"/>
              </a:rPr>
              <a:t> </a:t>
            </a:r>
            <a:r>
              <a:rPr sz="1800" b="1" dirty="0">
                <a:solidFill>
                  <a:srgbClr val="CC0099"/>
                </a:solidFill>
                <a:latin typeface="Times New Roman"/>
                <a:cs typeface="Times New Roman"/>
              </a:rPr>
              <a:t>of</a:t>
            </a:r>
            <a:r>
              <a:rPr sz="1800" b="1" spc="-30" dirty="0">
                <a:solidFill>
                  <a:srgbClr val="CC0099"/>
                </a:solidFill>
                <a:latin typeface="Times New Roman"/>
                <a:cs typeface="Times New Roman"/>
              </a:rPr>
              <a:t> </a:t>
            </a:r>
            <a:r>
              <a:rPr sz="1800" b="1" dirty="0">
                <a:solidFill>
                  <a:srgbClr val="CC0099"/>
                </a:solidFill>
                <a:latin typeface="Times New Roman"/>
                <a:cs typeface="Times New Roman"/>
              </a:rPr>
              <a:t>Data</a:t>
            </a:r>
            <a:r>
              <a:rPr sz="1800" b="1" spc="-25" dirty="0">
                <a:solidFill>
                  <a:srgbClr val="CC0099"/>
                </a:solidFill>
                <a:latin typeface="Times New Roman"/>
                <a:cs typeface="Times New Roman"/>
              </a:rPr>
              <a:t> </a:t>
            </a:r>
            <a:r>
              <a:rPr sz="1800" b="1" spc="-10" dirty="0">
                <a:solidFill>
                  <a:srgbClr val="CC0099"/>
                </a:solidFill>
                <a:latin typeface="Times New Roman"/>
                <a:cs typeface="Times New Roman"/>
              </a:rPr>
              <a:t>Science</a:t>
            </a:r>
            <a:endParaRPr sz="1800">
              <a:latin typeface="Times New Roman"/>
              <a:cs typeface="Times New Roman"/>
            </a:endParaRPr>
          </a:p>
        </p:txBody>
      </p:sp>
      <p:sp>
        <p:nvSpPr>
          <p:cNvPr id="4" name="object 4"/>
          <p:cNvSpPr txBox="1"/>
          <p:nvPr/>
        </p:nvSpPr>
        <p:spPr>
          <a:xfrm>
            <a:off x="2017902" y="1822507"/>
            <a:ext cx="8762365" cy="2188420"/>
          </a:xfrm>
          <a:prstGeom prst="rect">
            <a:avLst/>
          </a:prstGeom>
        </p:spPr>
        <p:txBody>
          <a:bodyPr vert="horz" wrap="square" lIns="0" tIns="51435" rIns="0" bIns="0" rtlCol="0">
            <a:spAutoFit/>
          </a:bodyPr>
          <a:lstStyle/>
          <a:p>
            <a:pPr marL="274955" algn="ctr">
              <a:lnSpc>
                <a:spcPct val="100000"/>
              </a:lnSpc>
              <a:spcBef>
                <a:spcPts val="405"/>
              </a:spcBef>
            </a:pPr>
            <a:r>
              <a:rPr sz="2400" b="1" dirty="0">
                <a:solidFill>
                  <a:srgbClr val="001F5F"/>
                </a:solidFill>
                <a:latin typeface="Times New Roman"/>
                <a:cs typeface="Times New Roman"/>
              </a:rPr>
              <a:t>TERM</a:t>
            </a:r>
            <a:r>
              <a:rPr sz="2400" b="1" spc="-90" dirty="0">
                <a:solidFill>
                  <a:srgbClr val="001F5F"/>
                </a:solidFill>
                <a:latin typeface="Times New Roman"/>
                <a:cs typeface="Times New Roman"/>
              </a:rPr>
              <a:t> </a:t>
            </a:r>
            <a:r>
              <a:rPr sz="2400" b="1" spc="-10" dirty="0">
                <a:solidFill>
                  <a:srgbClr val="001F5F"/>
                </a:solidFill>
                <a:latin typeface="Times New Roman"/>
                <a:cs typeface="Times New Roman"/>
              </a:rPr>
              <a:t>PAPER</a:t>
            </a:r>
            <a:r>
              <a:rPr sz="2400" b="1" spc="-90" dirty="0">
                <a:solidFill>
                  <a:srgbClr val="001F5F"/>
                </a:solidFill>
                <a:latin typeface="Times New Roman"/>
                <a:cs typeface="Times New Roman"/>
              </a:rPr>
              <a:t> </a:t>
            </a:r>
            <a:r>
              <a:rPr sz="2400" b="1" spc="-10" dirty="0">
                <a:solidFill>
                  <a:srgbClr val="001F5F"/>
                </a:solidFill>
                <a:latin typeface="Times New Roman"/>
                <a:cs typeface="Times New Roman"/>
              </a:rPr>
              <a:t>PRESENTATION</a:t>
            </a:r>
            <a:endParaRPr sz="2400" dirty="0">
              <a:latin typeface="Times New Roman"/>
              <a:cs typeface="Times New Roman"/>
            </a:endParaRPr>
          </a:p>
          <a:p>
            <a:pPr marL="266065" algn="ctr">
              <a:lnSpc>
                <a:spcPct val="100000"/>
              </a:lnSpc>
              <a:spcBef>
                <a:spcPts val="260"/>
              </a:spcBef>
            </a:pPr>
            <a:r>
              <a:rPr sz="2000" b="1" dirty="0">
                <a:solidFill>
                  <a:srgbClr val="006FC0"/>
                </a:solidFill>
                <a:latin typeface="Times New Roman"/>
                <a:cs typeface="Times New Roman"/>
              </a:rPr>
              <a:t>Date</a:t>
            </a:r>
            <a:r>
              <a:rPr sz="2000" b="1" spc="-20" dirty="0">
                <a:solidFill>
                  <a:srgbClr val="006FC0"/>
                </a:solidFill>
                <a:latin typeface="Times New Roman"/>
                <a:cs typeface="Times New Roman"/>
              </a:rPr>
              <a:t> </a:t>
            </a:r>
            <a:r>
              <a:rPr sz="2000" b="1" dirty="0">
                <a:solidFill>
                  <a:srgbClr val="006FC0"/>
                </a:solidFill>
                <a:latin typeface="Times New Roman"/>
                <a:cs typeface="Times New Roman"/>
              </a:rPr>
              <a:t>:</a:t>
            </a:r>
            <a:r>
              <a:rPr sz="2000" b="1" spc="5" dirty="0">
                <a:solidFill>
                  <a:srgbClr val="006FC0"/>
                </a:solidFill>
                <a:latin typeface="Times New Roman"/>
                <a:cs typeface="Times New Roman"/>
              </a:rPr>
              <a:t> </a:t>
            </a:r>
            <a:r>
              <a:rPr lang="en-IN" sz="2000" b="1" spc="-10" dirty="0">
                <a:solidFill>
                  <a:srgbClr val="006FC0"/>
                </a:solidFill>
                <a:latin typeface="Times New Roman"/>
                <a:cs typeface="Times New Roman"/>
              </a:rPr>
              <a:t>19</a:t>
            </a:r>
            <a:r>
              <a:rPr sz="2000" b="1" spc="-10" dirty="0">
                <a:solidFill>
                  <a:srgbClr val="006FC0"/>
                </a:solidFill>
                <a:latin typeface="Times New Roman"/>
                <a:cs typeface="Times New Roman"/>
              </a:rPr>
              <a:t>.</a:t>
            </a:r>
            <a:r>
              <a:rPr lang="en-IN" sz="2000" b="1" spc="-10" dirty="0">
                <a:solidFill>
                  <a:srgbClr val="006FC0"/>
                </a:solidFill>
                <a:latin typeface="Times New Roman"/>
                <a:cs typeface="Times New Roman"/>
              </a:rPr>
              <a:t>02</a:t>
            </a:r>
            <a:r>
              <a:rPr sz="2000" b="1" spc="-10" dirty="0">
                <a:solidFill>
                  <a:srgbClr val="006FC0"/>
                </a:solidFill>
                <a:latin typeface="Times New Roman"/>
                <a:cs typeface="Times New Roman"/>
              </a:rPr>
              <a:t>.202</a:t>
            </a:r>
            <a:r>
              <a:rPr lang="en-IN" sz="2000" b="1" spc="-10" dirty="0">
                <a:solidFill>
                  <a:srgbClr val="006FC0"/>
                </a:solidFill>
                <a:latin typeface="Times New Roman"/>
                <a:cs typeface="Times New Roman"/>
              </a:rPr>
              <a:t>6</a:t>
            </a:r>
            <a:endParaRPr sz="2000" dirty="0">
              <a:latin typeface="Times New Roman"/>
              <a:cs typeface="Times New Roman"/>
            </a:endParaRPr>
          </a:p>
          <a:p>
            <a:pPr>
              <a:lnSpc>
                <a:spcPct val="100000"/>
              </a:lnSpc>
              <a:spcBef>
                <a:spcPts val="1015"/>
              </a:spcBef>
            </a:pPr>
            <a:endParaRPr sz="2000" dirty="0">
              <a:latin typeface="Times New Roman"/>
              <a:cs typeface="Times New Roman"/>
            </a:endParaRPr>
          </a:p>
          <a:p>
            <a:pPr algn="ctr">
              <a:lnSpc>
                <a:spcPct val="100000"/>
              </a:lnSpc>
            </a:pPr>
            <a:r>
              <a:rPr lang="en-IN" sz="3200" b="1" dirty="0">
                <a:solidFill>
                  <a:srgbClr val="C00000"/>
                </a:solidFill>
                <a:latin typeface="Georgia"/>
                <a:cs typeface="Georgia"/>
              </a:rPr>
              <a:t>Variational Quantum Machine Learning on NISQ Devices</a:t>
            </a:r>
            <a:endParaRPr sz="3200" dirty="0">
              <a:latin typeface="Arial"/>
              <a:cs typeface="Arial"/>
            </a:endParaRPr>
          </a:p>
        </p:txBody>
      </p:sp>
      <p:sp>
        <p:nvSpPr>
          <p:cNvPr id="5" name="object 5"/>
          <p:cNvSpPr txBox="1"/>
          <p:nvPr/>
        </p:nvSpPr>
        <p:spPr>
          <a:xfrm>
            <a:off x="3126485" y="386841"/>
            <a:ext cx="6418580" cy="762635"/>
          </a:xfrm>
          <a:prstGeom prst="rect">
            <a:avLst/>
          </a:prstGeom>
        </p:spPr>
        <p:txBody>
          <a:bodyPr vert="horz" wrap="square" lIns="0" tIns="13335" rIns="0" bIns="0" rtlCol="0">
            <a:spAutoFit/>
          </a:bodyPr>
          <a:lstStyle/>
          <a:p>
            <a:pPr marL="12700">
              <a:lnSpc>
                <a:spcPct val="100000"/>
              </a:lnSpc>
              <a:spcBef>
                <a:spcPts val="105"/>
              </a:spcBef>
            </a:pPr>
            <a:r>
              <a:rPr sz="2000" b="1" spc="-45" dirty="0">
                <a:solidFill>
                  <a:srgbClr val="2D2B20"/>
                </a:solidFill>
                <a:latin typeface="Times New Roman"/>
                <a:cs typeface="Times New Roman"/>
              </a:rPr>
              <a:t>ST.</a:t>
            </a:r>
            <a:r>
              <a:rPr sz="2000" b="1" spc="-50" dirty="0">
                <a:solidFill>
                  <a:srgbClr val="2D2B20"/>
                </a:solidFill>
                <a:latin typeface="Times New Roman"/>
                <a:cs typeface="Times New Roman"/>
              </a:rPr>
              <a:t> </a:t>
            </a:r>
            <a:r>
              <a:rPr sz="2000" b="1" dirty="0">
                <a:solidFill>
                  <a:srgbClr val="2D2B20"/>
                </a:solidFill>
                <a:latin typeface="Times New Roman"/>
                <a:cs typeface="Times New Roman"/>
              </a:rPr>
              <a:t>THOMAS</a:t>
            </a:r>
            <a:r>
              <a:rPr sz="2000" b="1" spc="-40" dirty="0">
                <a:solidFill>
                  <a:srgbClr val="2D2B20"/>
                </a:solidFill>
                <a:latin typeface="Times New Roman"/>
                <a:cs typeface="Times New Roman"/>
              </a:rPr>
              <a:t> </a:t>
            </a:r>
            <a:r>
              <a:rPr sz="2000" b="1" dirty="0">
                <a:solidFill>
                  <a:srgbClr val="2D2B20"/>
                </a:solidFill>
                <a:latin typeface="Times New Roman"/>
                <a:cs typeface="Times New Roman"/>
              </a:rPr>
              <a:t>COLLEGE</a:t>
            </a:r>
            <a:r>
              <a:rPr sz="2000" b="1" spc="-5" dirty="0">
                <a:solidFill>
                  <a:srgbClr val="2D2B20"/>
                </a:solidFill>
                <a:latin typeface="Times New Roman"/>
                <a:cs typeface="Times New Roman"/>
              </a:rPr>
              <a:t> </a:t>
            </a:r>
            <a:r>
              <a:rPr sz="2000" b="1" spc="-10" dirty="0">
                <a:solidFill>
                  <a:srgbClr val="2D2B20"/>
                </a:solidFill>
                <a:latin typeface="Times New Roman"/>
                <a:cs typeface="Times New Roman"/>
              </a:rPr>
              <a:t>(AUTONOMOUS),</a:t>
            </a:r>
            <a:r>
              <a:rPr sz="2000" b="1" spc="-85" dirty="0">
                <a:solidFill>
                  <a:srgbClr val="2D2B20"/>
                </a:solidFill>
                <a:latin typeface="Times New Roman"/>
                <a:cs typeface="Times New Roman"/>
              </a:rPr>
              <a:t> </a:t>
            </a:r>
            <a:r>
              <a:rPr sz="2000" b="1" spc="-10" dirty="0">
                <a:solidFill>
                  <a:srgbClr val="2D2B20"/>
                </a:solidFill>
                <a:latin typeface="Times New Roman"/>
                <a:cs typeface="Times New Roman"/>
              </a:rPr>
              <a:t>THRISSUR</a:t>
            </a:r>
            <a:endParaRPr sz="2000">
              <a:latin typeface="Times New Roman"/>
              <a:cs typeface="Times New Roman"/>
            </a:endParaRPr>
          </a:p>
          <a:p>
            <a:pPr marL="1626235" marR="1618615" indent="313690">
              <a:lnSpc>
                <a:spcPct val="100000"/>
              </a:lnSpc>
              <a:spcBef>
                <a:spcPts val="35"/>
              </a:spcBef>
            </a:pPr>
            <a:r>
              <a:rPr sz="1400" b="1" dirty="0">
                <a:solidFill>
                  <a:srgbClr val="2D2B20"/>
                </a:solidFill>
                <a:latin typeface="Times New Roman"/>
                <a:cs typeface="Times New Roman"/>
              </a:rPr>
              <a:t>Affiliated</a:t>
            </a:r>
            <a:r>
              <a:rPr sz="1400" b="1" spc="-50" dirty="0">
                <a:solidFill>
                  <a:srgbClr val="2D2B20"/>
                </a:solidFill>
                <a:latin typeface="Times New Roman"/>
                <a:cs typeface="Times New Roman"/>
              </a:rPr>
              <a:t> </a:t>
            </a:r>
            <a:r>
              <a:rPr sz="1400" b="1" dirty="0">
                <a:solidFill>
                  <a:srgbClr val="2D2B20"/>
                </a:solidFill>
                <a:latin typeface="Times New Roman"/>
                <a:cs typeface="Times New Roman"/>
              </a:rPr>
              <a:t>to</a:t>
            </a:r>
            <a:r>
              <a:rPr sz="1400" b="1" spc="-20" dirty="0">
                <a:solidFill>
                  <a:srgbClr val="2D2B20"/>
                </a:solidFill>
                <a:latin typeface="Times New Roman"/>
                <a:cs typeface="Times New Roman"/>
              </a:rPr>
              <a:t> </a:t>
            </a:r>
            <a:r>
              <a:rPr sz="1400" b="1" dirty="0">
                <a:solidFill>
                  <a:srgbClr val="2D2B20"/>
                </a:solidFill>
                <a:latin typeface="Times New Roman"/>
                <a:cs typeface="Times New Roman"/>
              </a:rPr>
              <a:t>University</a:t>
            </a:r>
            <a:r>
              <a:rPr sz="1400" b="1" spc="-45" dirty="0">
                <a:solidFill>
                  <a:srgbClr val="2D2B20"/>
                </a:solidFill>
                <a:latin typeface="Times New Roman"/>
                <a:cs typeface="Times New Roman"/>
              </a:rPr>
              <a:t> </a:t>
            </a:r>
            <a:r>
              <a:rPr sz="1400" b="1" dirty="0">
                <a:solidFill>
                  <a:srgbClr val="2D2B20"/>
                </a:solidFill>
                <a:latin typeface="Times New Roman"/>
                <a:cs typeface="Times New Roman"/>
              </a:rPr>
              <a:t>of</a:t>
            </a:r>
            <a:r>
              <a:rPr sz="1400" b="1" spc="-20" dirty="0">
                <a:solidFill>
                  <a:srgbClr val="2D2B20"/>
                </a:solidFill>
                <a:latin typeface="Times New Roman"/>
                <a:cs typeface="Times New Roman"/>
              </a:rPr>
              <a:t> </a:t>
            </a:r>
            <a:r>
              <a:rPr sz="1400" b="1" spc="-10" dirty="0">
                <a:solidFill>
                  <a:srgbClr val="2D2B20"/>
                </a:solidFill>
                <a:latin typeface="Times New Roman"/>
                <a:cs typeface="Times New Roman"/>
              </a:rPr>
              <a:t>Calicut </a:t>
            </a:r>
            <a:r>
              <a:rPr sz="1400" b="1" dirty="0">
                <a:solidFill>
                  <a:srgbClr val="2D2B20"/>
                </a:solidFill>
                <a:latin typeface="Times New Roman"/>
                <a:cs typeface="Times New Roman"/>
              </a:rPr>
              <a:t>Nationally</a:t>
            </a:r>
            <a:r>
              <a:rPr sz="1400" b="1" spc="-20" dirty="0">
                <a:solidFill>
                  <a:srgbClr val="2D2B20"/>
                </a:solidFill>
                <a:latin typeface="Times New Roman"/>
                <a:cs typeface="Times New Roman"/>
              </a:rPr>
              <a:t> </a:t>
            </a:r>
            <a:r>
              <a:rPr sz="1400" b="1" spc="-10" dirty="0">
                <a:solidFill>
                  <a:srgbClr val="2D2B20"/>
                </a:solidFill>
                <a:latin typeface="Times New Roman"/>
                <a:cs typeface="Times New Roman"/>
              </a:rPr>
              <a:t>reaccredited </a:t>
            </a:r>
            <a:r>
              <a:rPr sz="1400" b="1" dirty="0">
                <a:solidFill>
                  <a:srgbClr val="2D2B20"/>
                </a:solidFill>
                <a:latin typeface="Times New Roman"/>
                <a:cs typeface="Times New Roman"/>
              </a:rPr>
              <a:t>with</a:t>
            </a:r>
            <a:r>
              <a:rPr sz="1400" b="1" spc="-25" dirty="0">
                <a:solidFill>
                  <a:srgbClr val="2D2B20"/>
                </a:solidFill>
                <a:latin typeface="Times New Roman"/>
                <a:cs typeface="Times New Roman"/>
              </a:rPr>
              <a:t> </a:t>
            </a:r>
            <a:r>
              <a:rPr sz="1400" b="1" spc="-10" dirty="0">
                <a:solidFill>
                  <a:srgbClr val="2D2B20"/>
                </a:solidFill>
                <a:latin typeface="Times New Roman"/>
                <a:cs typeface="Times New Roman"/>
              </a:rPr>
              <a:t>‘A++’</a:t>
            </a:r>
            <a:r>
              <a:rPr sz="1400" b="1" spc="-114" dirty="0">
                <a:solidFill>
                  <a:srgbClr val="2D2B20"/>
                </a:solidFill>
                <a:latin typeface="Times New Roman"/>
                <a:cs typeface="Times New Roman"/>
              </a:rPr>
              <a:t> </a:t>
            </a:r>
            <a:r>
              <a:rPr sz="1400" b="1" spc="-10" dirty="0">
                <a:solidFill>
                  <a:srgbClr val="2D2B20"/>
                </a:solidFill>
                <a:latin typeface="Times New Roman"/>
                <a:cs typeface="Times New Roman"/>
              </a:rPr>
              <a:t>Grade</a:t>
            </a:r>
            <a:endParaRPr sz="1400">
              <a:latin typeface="Times New Roman"/>
              <a:cs typeface="Times New Roman"/>
            </a:endParaRPr>
          </a:p>
        </p:txBody>
      </p:sp>
      <p:pic>
        <p:nvPicPr>
          <p:cNvPr id="6" name="object 6"/>
          <p:cNvPicPr/>
          <p:nvPr/>
        </p:nvPicPr>
        <p:blipFill>
          <a:blip r:embed="rId2" cstate="print"/>
          <a:stretch>
            <a:fillRect/>
          </a:stretch>
        </p:blipFill>
        <p:spPr>
          <a:xfrm>
            <a:off x="2097023" y="182435"/>
            <a:ext cx="1027137" cy="1169225"/>
          </a:xfrm>
          <a:prstGeom prst="rect">
            <a:avLst/>
          </a:prstGeom>
        </p:spPr>
      </p:pic>
      <p:sp>
        <p:nvSpPr>
          <p:cNvPr id="7" name="object 7"/>
          <p:cNvSpPr txBox="1"/>
          <p:nvPr/>
        </p:nvSpPr>
        <p:spPr>
          <a:xfrm>
            <a:off x="10917428" y="6476187"/>
            <a:ext cx="90805" cy="239395"/>
          </a:xfrm>
          <a:prstGeom prst="rect">
            <a:avLst/>
          </a:prstGeom>
        </p:spPr>
        <p:txBody>
          <a:bodyPr vert="horz" wrap="square" lIns="0" tIns="12700" rIns="0" bIns="0" rtlCol="0">
            <a:spAutoFit/>
          </a:bodyPr>
          <a:lstStyle/>
          <a:p>
            <a:pPr marL="12700">
              <a:lnSpc>
                <a:spcPct val="100000"/>
              </a:lnSpc>
              <a:spcBef>
                <a:spcPts val="100"/>
              </a:spcBef>
            </a:pPr>
            <a:r>
              <a:rPr sz="1400" spc="-180" dirty="0">
                <a:solidFill>
                  <a:srgbClr val="464233"/>
                </a:solidFill>
                <a:latin typeface="Trebuchet MS"/>
                <a:cs typeface="Trebuchet MS"/>
              </a:rPr>
              <a:t>1</a:t>
            </a:r>
            <a:endParaRPr sz="140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2</a:t>
            </a:fld>
            <a:endParaRPr spc="-50" dirty="0"/>
          </a:p>
        </p:txBody>
      </p:sp>
      <p:sp>
        <p:nvSpPr>
          <p:cNvPr id="2" name="object 2"/>
          <p:cNvSpPr txBox="1"/>
          <p:nvPr/>
        </p:nvSpPr>
        <p:spPr>
          <a:xfrm>
            <a:off x="916939" y="1338477"/>
            <a:ext cx="2877185" cy="3854901"/>
          </a:xfrm>
          <a:prstGeom prst="rect">
            <a:avLst/>
          </a:prstGeom>
        </p:spPr>
        <p:txBody>
          <a:bodyPr vert="horz" wrap="square" lIns="0" tIns="157480" rIns="0" bIns="0" rtlCol="0">
            <a:spAutoFit/>
          </a:bodyPr>
          <a:lstStyle/>
          <a:p>
            <a:pPr marL="234315" indent="-223520">
              <a:lnSpc>
                <a:spcPct val="100000"/>
              </a:lnSpc>
              <a:spcBef>
                <a:spcPts val="1240"/>
              </a:spcBef>
              <a:buClr>
                <a:srgbClr val="9CBDBC"/>
              </a:buClr>
              <a:buSzPct val="95454"/>
              <a:buFont typeface="Wingdings"/>
              <a:buChar char=""/>
              <a:tabLst>
                <a:tab pos="234315" algn="l"/>
              </a:tabLst>
            </a:pPr>
            <a:r>
              <a:rPr sz="2200" spc="-10" dirty="0">
                <a:latin typeface="Times New Roman"/>
                <a:cs typeface="Times New Roman"/>
              </a:rPr>
              <a:t>Abstract</a:t>
            </a:r>
            <a:endParaRPr sz="2200" dirty="0">
              <a:latin typeface="Times New Roman"/>
              <a:cs typeface="Times New Roman"/>
            </a:endParaRPr>
          </a:p>
          <a:p>
            <a:pPr marL="234315" indent="-223520">
              <a:lnSpc>
                <a:spcPct val="100000"/>
              </a:lnSpc>
              <a:spcBef>
                <a:spcPts val="1140"/>
              </a:spcBef>
              <a:buClr>
                <a:srgbClr val="9CBDBC"/>
              </a:buClr>
              <a:buSzPct val="95454"/>
              <a:buFont typeface="Wingdings"/>
              <a:buChar char=""/>
              <a:tabLst>
                <a:tab pos="234315" algn="l"/>
              </a:tabLst>
            </a:pPr>
            <a:r>
              <a:rPr sz="2200" spc="-10" dirty="0">
                <a:latin typeface="Times New Roman"/>
                <a:cs typeface="Times New Roman"/>
              </a:rPr>
              <a:t>Introduction</a:t>
            </a:r>
            <a:endParaRPr sz="2200" dirty="0">
              <a:latin typeface="Times New Roman"/>
              <a:cs typeface="Times New Roman"/>
            </a:endParaRPr>
          </a:p>
          <a:p>
            <a:pPr marL="234950" indent="-224154">
              <a:lnSpc>
                <a:spcPct val="100000"/>
              </a:lnSpc>
              <a:spcBef>
                <a:spcPts val="1125"/>
              </a:spcBef>
              <a:buClr>
                <a:srgbClr val="9CBDBC"/>
              </a:buClr>
              <a:buSzPct val="95454"/>
              <a:buFont typeface="Wingdings"/>
              <a:buChar char=""/>
              <a:tabLst>
                <a:tab pos="234950" algn="l"/>
              </a:tabLst>
            </a:pPr>
            <a:r>
              <a:rPr lang="en-US" sz="2200" dirty="0">
                <a:latin typeface="Times New Roman"/>
                <a:cs typeface="Times New Roman"/>
              </a:rPr>
              <a:t>Dataset Description</a:t>
            </a:r>
            <a:endParaRPr sz="2200" dirty="0">
              <a:latin typeface="Times New Roman"/>
              <a:cs typeface="Times New Roman"/>
            </a:endParaRPr>
          </a:p>
          <a:p>
            <a:pPr marL="234315" indent="-223520">
              <a:lnSpc>
                <a:spcPct val="100000"/>
              </a:lnSpc>
              <a:spcBef>
                <a:spcPts val="1140"/>
              </a:spcBef>
              <a:buClr>
                <a:srgbClr val="9CBDBC"/>
              </a:buClr>
              <a:buSzPct val="95454"/>
              <a:buFont typeface="Wingdings"/>
              <a:buChar char=""/>
              <a:tabLst>
                <a:tab pos="234315" algn="l"/>
              </a:tabLst>
            </a:pPr>
            <a:r>
              <a:rPr lang="en-US" sz="2200" dirty="0">
                <a:latin typeface="Times New Roman"/>
                <a:cs typeface="Times New Roman"/>
              </a:rPr>
              <a:t>Literature Review</a:t>
            </a:r>
          </a:p>
          <a:p>
            <a:pPr marL="234315" indent="-223520">
              <a:lnSpc>
                <a:spcPct val="100000"/>
              </a:lnSpc>
              <a:spcBef>
                <a:spcPts val="1140"/>
              </a:spcBef>
              <a:buClr>
                <a:srgbClr val="9CBDBC"/>
              </a:buClr>
              <a:buSzPct val="95454"/>
              <a:buFont typeface="Wingdings"/>
              <a:buChar char=""/>
              <a:tabLst>
                <a:tab pos="234315" algn="l"/>
              </a:tabLst>
            </a:pPr>
            <a:r>
              <a:rPr lang="en-US" sz="2200" dirty="0">
                <a:latin typeface="Times New Roman"/>
                <a:cs typeface="Times New Roman"/>
              </a:rPr>
              <a:t>Result and Discussion</a:t>
            </a:r>
          </a:p>
          <a:p>
            <a:pPr marL="234315" indent="-223520">
              <a:lnSpc>
                <a:spcPct val="100000"/>
              </a:lnSpc>
              <a:spcBef>
                <a:spcPts val="1140"/>
              </a:spcBef>
              <a:buClr>
                <a:srgbClr val="9CBDBC"/>
              </a:buClr>
              <a:buSzPct val="95454"/>
              <a:buFont typeface="Wingdings"/>
              <a:buChar char=""/>
              <a:tabLst>
                <a:tab pos="234315" algn="l"/>
              </a:tabLst>
            </a:pPr>
            <a:r>
              <a:rPr lang="en-US" sz="2200" dirty="0">
                <a:latin typeface="Times New Roman"/>
                <a:cs typeface="Times New Roman"/>
              </a:rPr>
              <a:t>Conclusion</a:t>
            </a:r>
          </a:p>
          <a:p>
            <a:pPr marL="234315" indent="-223520">
              <a:lnSpc>
                <a:spcPct val="100000"/>
              </a:lnSpc>
              <a:spcBef>
                <a:spcPts val="1140"/>
              </a:spcBef>
              <a:buClr>
                <a:srgbClr val="9CBDBC"/>
              </a:buClr>
              <a:buSzPct val="95454"/>
              <a:buFont typeface="Wingdings"/>
              <a:buChar char=""/>
              <a:tabLst>
                <a:tab pos="234315" algn="l"/>
              </a:tabLst>
            </a:pPr>
            <a:r>
              <a:rPr lang="en-US" sz="2200" dirty="0">
                <a:latin typeface="Times New Roman"/>
                <a:cs typeface="Times New Roman"/>
              </a:rPr>
              <a:t>Output</a:t>
            </a:r>
            <a:endParaRPr sz="2200" dirty="0">
              <a:latin typeface="Times New Roman"/>
              <a:cs typeface="Times New Roman"/>
            </a:endParaRPr>
          </a:p>
          <a:p>
            <a:pPr marL="234315" indent="-223520">
              <a:lnSpc>
                <a:spcPct val="100000"/>
              </a:lnSpc>
              <a:spcBef>
                <a:spcPts val="1130"/>
              </a:spcBef>
              <a:buClr>
                <a:srgbClr val="9CBDBC"/>
              </a:buClr>
              <a:buSzPct val="95454"/>
              <a:buFont typeface="Wingdings"/>
              <a:buChar char=""/>
              <a:tabLst>
                <a:tab pos="234315" algn="l"/>
              </a:tabLst>
            </a:pPr>
            <a:r>
              <a:rPr sz="2200" spc="-10" dirty="0">
                <a:latin typeface="Times New Roman"/>
                <a:cs typeface="Times New Roman"/>
              </a:rPr>
              <a:t>References</a:t>
            </a:r>
            <a:endParaRPr sz="2200" dirty="0">
              <a:latin typeface="Times New Roman"/>
              <a:cs typeface="Times New Roman"/>
            </a:endParaRPr>
          </a:p>
        </p:txBody>
      </p:sp>
      <p:sp>
        <p:nvSpPr>
          <p:cNvPr id="3" name="object 3"/>
          <p:cNvSpPr txBox="1">
            <a:spLocks noGrp="1"/>
          </p:cNvSpPr>
          <p:nvPr>
            <p:ph type="title"/>
          </p:nvPr>
        </p:nvSpPr>
        <p:spPr>
          <a:xfrm>
            <a:off x="838200" y="438480"/>
            <a:ext cx="1100582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3</a:t>
            </a:fld>
            <a:endParaRPr spc="-50"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ABSTRACT</a:t>
            </a:r>
          </a:p>
        </p:txBody>
      </p:sp>
      <p:sp>
        <p:nvSpPr>
          <p:cNvPr id="3" name="object 3"/>
          <p:cNvSpPr txBox="1"/>
          <p:nvPr/>
        </p:nvSpPr>
        <p:spPr>
          <a:xfrm>
            <a:off x="575487" y="1219200"/>
            <a:ext cx="11268710" cy="4681410"/>
          </a:xfrm>
          <a:prstGeom prst="rect">
            <a:avLst/>
          </a:prstGeom>
        </p:spPr>
        <p:txBody>
          <a:bodyPr vert="horz" wrap="square" lIns="0" tIns="13335" rIns="0" bIns="0" rtlCol="0">
            <a:spAutoFit/>
          </a:bodyPr>
          <a:lstStyle/>
          <a:p>
            <a:pPr marL="355600" marR="7620" indent="-342900" algn="just">
              <a:lnSpc>
                <a:spcPct val="100000"/>
              </a:lnSpc>
              <a:spcBef>
                <a:spcPts val="105"/>
              </a:spcBef>
              <a:buClr>
                <a:srgbClr val="9DC3E6"/>
              </a:buClr>
              <a:buFont typeface="Wingdings"/>
              <a:buChar char=""/>
              <a:tabLst>
                <a:tab pos="355600" algn="l"/>
              </a:tabLst>
            </a:pPr>
            <a:r>
              <a:rPr lang="en-US" sz="2000" dirty="0">
                <a:latin typeface="Times New Roman" panose="02020603050405020304" pitchFamily="18" charset="0"/>
                <a:cs typeface="Times New Roman" panose="02020603050405020304" pitchFamily="18" charset="0"/>
              </a:rPr>
              <a:t>Quantum computing is an emerging technology that has the potential to solve certain problems faster than classical computers, but today’s quantum machines are still small and affected by noise, which limits their performance.</a:t>
            </a:r>
          </a:p>
          <a:p>
            <a:pPr marL="355600" marR="7620" indent="-342900" algn="just">
              <a:lnSpc>
                <a:spcPct val="100000"/>
              </a:lnSpc>
              <a:spcBef>
                <a:spcPts val="105"/>
              </a:spcBef>
              <a:buClr>
                <a:srgbClr val="9DC3E6"/>
              </a:buClr>
              <a:buFont typeface="Wingdings"/>
              <a:buChar char=""/>
              <a:tabLst>
                <a:tab pos="355600" algn="l"/>
              </a:tabLst>
            </a:pPr>
            <a:r>
              <a:rPr lang="en-IN" sz="2000" dirty="0">
                <a:latin typeface="Times New Roman" panose="02020603050405020304" pitchFamily="18" charset="0"/>
                <a:cs typeface="Times New Roman" panose="02020603050405020304" pitchFamily="18" charset="0"/>
              </a:rPr>
              <a:t>This paper reviews a hybrid learning approach called Variational Quantum Machine Learning (VQML), which combines simple quantum circuits with classical optimization methods to make quantum models usable on current noisy and limited quantum hardware.</a:t>
            </a:r>
            <a:endParaRPr lang="en-US" sz="2000" dirty="0">
              <a:latin typeface="Times New Roman" panose="02020603050405020304" pitchFamily="18" charset="0"/>
              <a:cs typeface="Times New Roman" panose="02020603050405020304" pitchFamily="18" charset="0"/>
            </a:endParaRPr>
          </a:p>
          <a:p>
            <a:pPr marL="355600" marR="7620" indent="-342900" algn="just">
              <a:lnSpc>
                <a:spcPct val="100000"/>
              </a:lnSpc>
              <a:spcBef>
                <a:spcPts val="105"/>
              </a:spcBef>
              <a:buClr>
                <a:srgbClr val="9DC3E6"/>
              </a:buClr>
              <a:buFont typeface="Wingdings"/>
              <a:buChar char=""/>
              <a:tabLst>
                <a:tab pos="355600" algn="l"/>
              </a:tabLst>
            </a:pPr>
            <a:r>
              <a:rPr lang="en-US" sz="2000" dirty="0">
                <a:latin typeface="Times New Roman" panose="02020603050405020304" pitchFamily="18" charset="0"/>
                <a:cs typeface="Times New Roman" panose="02020603050405020304" pitchFamily="18" charset="0"/>
              </a:rPr>
              <a:t>Five widely studied VQML algorithms — Variational Quantum Classifier (VQC), Quantum Support Vector Machine (QSVM), Quantum Neural Network (QNN), Quantum Convolutional Neural Network (QCNN), and Variational Quantum Feature Embedding (VQFE) — are examined based on their design, training behavior, and performance.</a:t>
            </a:r>
          </a:p>
          <a:p>
            <a:pPr marL="355600" marR="7620" lvl="1" indent="-342900" algn="just">
              <a:spcBef>
                <a:spcPts val="105"/>
              </a:spcBef>
              <a:buClr>
                <a:srgbClr val="9DC3E6"/>
              </a:buClr>
              <a:buFont typeface="Wingdings"/>
              <a:buChar char=""/>
              <a:tabLst>
                <a:tab pos="355600" algn="l"/>
              </a:tabLst>
            </a:pPr>
            <a:r>
              <a:rPr lang="en-US" sz="2000" dirty="0">
                <a:latin typeface="Times New Roman" panose="02020603050405020304" pitchFamily="18" charset="0"/>
                <a:cs typeface="Times New Roman" panose="02020603050405020304" pitchFamily="18" charset="0"/>
              </a:rPr>
              <a:t>The review highlights major challenges faced by these models, such as training difficulties (including vanishing gradients) and the impact of hardware noise on accuracy, as well as modern techniques developed to reduce these issues.</a:t>
            </a:r>
          </a:p>
          <a:p>
            <a:pPr marL="355600" marR="7620" indent="-342900" algn="just">
              <a:lnSpc>
                <a:spcPct val="100000"/>
              </a:lnSpc>
              <a:spcBef>
                <a:spcPts val="105"/>
              </a:spcBef>
              <a:buClr>
                <a:srgbClr val="9DC3E6"/>
              </a:buClr>
              <a:buFont typeface="Wingdings"/>
              <a:buChar char=""/>
              <a:tabLst>
                <a:tab pos="355600" algn="l"/>
              </a:tabLst>
            </a:pPr>
            <a:r>
              <a:rPr lang="en-US" sz="2000" dirty="0">
                <a:latin typeface="Times New Roman" panose="02020603050405020304" pitchFamily="18" charset="0"/>
                <a:cs typeface="Times New Roman" panose="02020603050405020304" pitchFamily="18" charset="0"/>
              </a:rPr>
              <a:t>A standardized experimental setup using a binary subset of the MNIST dataset (digits 2 and 7) is proposed to evaluate all five algorithms fairly, focusing on accuracy, stability, and resistance to noise.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4</a:t>
            </a:fld>
            <a:endParaRPr spc="-50"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ABSTRACT</a:t>
            </a:r>
          </a:p>
        </p:txBody>
      </p:sp>
      <p:sp>
        <p:nvSpPr>
          <p:cNvPr id="3" name="object 3"/>
          <p:cNvSpPr txBox="1"/>
          <p:nvPr/>
        </p:nvSpPr>
        <p:spPr>
          <a:xfrm>
            <a:off x="575487" y="1219200"/>
            <a:ext cx="11268710" cy="1885773"/>
          </a:xfrm>
          <a:prstGeom prst="rect">
            <a:avLst/>
          </a:prstGeom>
        </p:spPr>
        <p:txBody>
          <a:bodyPr vert="horz" wrap="square" lIns="0" tIns="13335" rIns="0" bIns="0" rtlCol="0">
            <a:spAutoFit/>
          </a:bodyPr>
          <a:lstStyle/>
          <a:p>
            <a:pPr marL="12700" marR="7620" algn="just">
              <a:lnSpc>
                <a:spcPct val="100000"/>
              </a:lnSpc>
              <a:spcBef>
                <a:spcPts val="105"/>
              </a:spcBef>
              <a:buClr>
                <a:srgbClr val="9DC3E6"/>
              </a:buClr>
              <a:tabLst>
                <a:tab pos="355600" algn="l"/>
              </a:tabLst>
            </a:pPr>
            <a:endParaRPr lang="en-US" sz="2000" dirty="0">
              <a:latin typeface="Times New Roman" panose="02020603050405020304" pitchFamily="18" charset="0"/>
              <a:cs typeface="Times New Roman" panose="02020603050405020304" pitchFamily="18" charset="0"/>
            </a:endParaRPr>
          </a:p>
          <a:p>
            <a:pPr marL="355600" marR="7620" indent="-342900" algn="just">
              <a:lnSpc>
                <a:spcPct val="100000"/>
              </a:lnSpc>
              <a:spcBef>
                <a:spcPts val="105"/>
              </a:spcBef>
              <a:buClr>
                <a:srgbClr val="9DC3E6"/>
              </a:buClr>
              <a:buFont typeface="Wingdings"/>
              <a:buChar char=""/>
              <a:tabLst>
                <a:tab pos="355600" algn="l"/>
              </a:tabLst>
            </a:pPr>
            <a:r>
              <a:rPr lang="en-US" sz="2000" dirty="0">
                <a:latin typeface="Times New Roman" panose="02020603050405020304" pitchFamily="18" charset="0"/>
                <a:cs typeface="Times New Roman" panose="02020603050405020304" pitchFamily="18" charset="0"/>
              </a:rPr>
              <a:t>Findings from recent research and practical tests suggest that VQML can offer advantages in certain learning tasks but still requires improvements in algorithm design, optimization strategies, and noise-handling techniques.</a:t>
            </a:r>
          </a:p>
          <a:p>
            <a:pPr marL="355600" marR="7620" indent="-342900" algn="just">
              <a:lnSpc>
                <a:spcPct val="100000"/>
              </a:lnSpc>
              <a:spcBef>
                <a:spcPts val="105"/>
              </a:spcBef>
              <a:buClr>
                <a:srgbClr val="9DC3E6"/>
              </a:buClr>
              <a:buFont typeface="Wingdings"/>
              <a:buChar char=""/>
              <a:tabLst>
                <a:tab pos="355600" algn="l"/>
              </a:tabLst>
            </a:pPr>
            <a:r>
              <a:rPr lang="en-US" sz="2000" dirty="0">
                <a:latin typeface="Times New Roman" panose="02020603050405020304" pitchFamily="18" charset="0"/>
                <a:cs typeface="Times New Roman" panose="02020603050405020304" pitchFamily="18" charset="0"/>
              </a:rPr>
              <a:t>This review contributes toward understanding how current quantum systems can be used for machine learning and how these models can be improved as quantum hardware continues to advance.</a:t>
            </a:r>
          </a:p>
        </p:txBody>
      </p:sp>
    </p:spTree>
    <p:extLst>
      <p:ext uri="{BB962C8B-B14F-4D97-AF65-F5344CB8AC3E}">
        <p14:creationId xmlns:p14="http://schemas.microsoft.com/office/powerpoint/2010/main" val="24156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1367" y="128824"/>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marL="635" algn="ctr">
              <a:lnSpc>
                <a:spcPct val="100000"/>
              </a:lnSpc>
              <a:spcBef>
                <a:spcPts val="1500"/>
              </a:spcBef>
            </a:pPr>
            <a:r>
              <a:rPr spc="-10" dirty="0"/>
              <a:t>INTRODUCTION</a:t>
            </a:r>
          </a:p>
        </p:txBody>
      </p:sp>
      <p:sp>
        <p:nvSpPr>
          <p:cNvPr id="3" name="object 3"/>
          <p:cNvSpPr txBox="1"/>
          <p:nvPr/>
        </p:nvSpPr>
        <p:spPr>
          <a:xfrm>
            <a:off x="631367" y="1195925"/>
            <a:ext cx="11208385" cy="4950714"/>
          </a:xfrm>
          <a:prstGeom prst="rect">
            <a:avLst/>
          </a:prstGeom>
        </p:spPr>
        <p:txBody>
          <a:bodyPr vert="horz" wrap="square" lIns="0" tIns="13335" rIns="0" bIns="0" rtlCol="0">
            <a:spAutoFit/>
          </a:bodyPr>
          <a:lstStyle/>
          <a:p>
            <a:pPr marL="213360" indent="-205104">
              <a:spcBef>
                <a:spcPts val="105"/>
              </a:spcBef>
              <a:buClr>
                <a:srgbClr val="9CBDBC"/>
              </a:buClr>
              <a:buSzPct val="95000"/>
              <a:buFont typeface="Wingdings"/>
              <a:buChar char=""/>
              <a:tabLst>
                <a:tab pos="213360" algn="l"/>
              </a:tabLst>
            </a:pPr>
            <a:r>
              <a:rPr lang="en-US" sz="2000" dirty="0">
                <a:latin typeface="Times New Roman" panose="02020603050405020304" pitchFamily="18" charset="0"/>
                <a:cs typeface="Times New Roman" panose="02020603050405020304" pitchFamily="18" charset="0"/>
              </a:rPr>
              <a:t>Quantum computing aims to solve certain problems faster than classical computers by using quantum principles such as superposition and entanglement. However, today’s quantum devices, known as NISQ (Noisy Intermediate-Scale Quantum) devices, are limited by small qubit counts and hardware noise.</a:t>
            </a:r>
          </a:p>
          <a:p>
            <a:pPr marL="213360" indent="-205104">
              <a:spcBef>
                <a:spcPts val="105"/>
              </a:spcBef>
              <a:buClr>
                <a:srgbClr val="9CBDBC"/>
              </a:buClr>
              <a:buSzPct val="95000"/>
              <a:buFont typeface="Wingdings"/>
              <a:buChar char=""/>
              <a:tabLst>
                <a:tab pos="213360" algn="l"/>
              </a:tabLst>
            </a:pPr>
            <a:r>
              <a:rPr lang="en-US" sz="2000" dirty="0">
                <a:latin typeface="Times New Roman" panose="02020603050405020304" pitchFamily="18" charset="0"/>
                <a:cs typeface="Times New Roman" panose="02020603050405020304" pitchFamily="18" charset="0"/>
              </a:rPr>
              <a:t>Because of these limitations, running large and complex quantum algorithms is not practical. This makes it important to explore methods that can work effectively on current noisy hardware.</a:t>
            </a:r>
            <a:endParaRPr lang="en-IN" sz="2000" dirty="0">
              <a:latin typeface="Times New Roman" panose="02020603050405020304" pitchFamily="18" charset="0"/>
              <a:cs typeface="Times New Roman" panose="02020603050405020304" pitchFamily="18" charset="0"/>
            </a:endParaRPr>
          </a:p>
          <a:p>
            <a:pPr marL="213360" indent="-205104">
              <a:spcBef>
                <a:spcPts val="105"/>
              </a:spcBef>
              <a:buClr>
                <a:srgbClr val="9CBDBC"/>
              </a:buClr>
              <a:buSzPct val="95000"/>
              <a:buFont typeface="Wingdings"/>
              <a:buChar char=""/>
              <a:tabLst>
                <a:tab pos="213360" algn="l"/>
              </a:tabLst>
            </a:pPr>
            <a:r>
              <a:rPr lang="en-US" sz="2000" dirty="0">
                <a:latin typeface="Times New Roman" panose="02020603050405020304" pitchFamily="18" charset="0"/>
                <a:cs typeface="Times New Roman" panose="02020603050405020304" pitchFamily="18" charset="0"/>
              </a:rPr>
              <a:t>Variational Quantum Machine Learning (VQML) has become one of the most promising approaches for using quantum computers today. VQML combines simple quantum circuits with classical optimization techniques, allowing learning tasks to run even on noisy and small quantum processors.</a:t>
            </a:r>
            <a:endParaRPr lang="en-IN" sz="2000" dirty="0">
              <a:latin typeface="Times New Roman" panose="02020603050405020304" pitchFamily="18" charset="0"/>
              <a:cs typeface="Times New Roman" panose="02020603050405020304" pitchFamily="18" charset="0"/>
            </a:endParaRPr>
          </a:p>
          <a:p>
            <a:pPr marL="213360" indent="-205104">
              <a:spcBef>
                <a:spcPts val="105"/>
              </a:spcBef>
              <a:buClr>
                <a:srgbClr val="9CBDBC"/>
              </a:buClr>
              <a:buSzPct val="95000"/>
              <a:buFont typeface="Wingdings"/>
              <a:buChar char=""/>
              <a:tabLst>
                <a:tab pos="213360" algn="l"/>
              </a:tabLst>
            </a:pPr>
            <a:r>
              <a:rPr lang="en-US" sz="2000" dirty="0">
                <a:latin typeface="Times New Roman" panose="02020603050405020304" pitchFamily="18" charset="0"/>
                <a:cs typeface="Times New Roman" panose="02020603050405020304" pitchFamily="18" charset="0"/>
              </a:rPr>
              <a:t>This paper provides a detailed review of VQML techniques and explores how different variational models—such as Variational Quantum Classifiers (VQC), Quantum Support Vector Machines (QSVM), Quantum Neural Networks (QNN), Quantum Convolutional Neural Networks (QCNN), and Variational Quantum Feature Embedding (VQFE)—perform under real NISQ conditions.</a:t>
            </a:r>
          </a:p>
          <a:p>
            <a:pPr marL="213360" indent="-205104">
              <a:spcBef>
                <a:spcPts val="105"/>
              </a:spcBef>
              <a:buClr>
                <a:srgbClr val="9CBDBC"/>
              </a:buClr>
              <a:buSzPct val="95000"/>
              <a:buFont typeface="Wingdings"/>
              <a:buChar char=""/>
              <a:tabLst>
                <a:tab pos="213360" algn="l"/>
              </a:tabLst>
            </a:pPr>
            <a:r>
              <a:rPr lang="en-US" sz="2000" dirty="0">
                <a:latin typeface="Times New Roman" panose="02020603050405020304" pitchFamily="18" charset="0"/>
                <a:cs typeface="Times New Roman" panose="02020603050405020304" pitchFamily="18" charset="0"/>
              </a:rPr>
              <a:t>VQML models must overcome challenges such as training instability (including barren plateaus where learning becomes extremely slow) and the negative effects of hardware noise, which can reduce accuracy and reliability.</a:t>
            </a:r>
            <a:endParaRPr lang="en-US" sz="2000" dirty="0">
              <a:solidFill>
                <a:srgbClr val="2D2B20"/>
              </a:solidFill>
              <a:latin typeface="Times New Roman" panose="02020603050405020304" pitchFamily="18" charset="0"/>
              <a:cs typeface="Times New Roman" panose="02020603050405020304" pitchFamily="18" charset="0"/>
            </a:endParaRPr>
          </a:p>
          <a:p>
            <a:pPr marL="8256">
              <a:lnSpc>
                <a:spcPts val="2039"/>
              </a:lnSpc>
              <a:spcBef>
                <a:spcPts val="105"/>
              </a:spcBef>
              <a:buClr>
                <a:srgbClr val="9CBDBC"/>
              </a:buClr>
              <a:buSzPct val="95000"/>
              <a:tabLst>
                <a:tab pos="213360" algn="l"/>
              </a:tabLst>
            </a:pPr>
            <a:endParaRPr lang="en-US"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10917428" y="6476187"/>
            <a:ext cx="90805" cy="289823"/>
          </a:xfrm>
          <a:prstGeom prst="rect">
            <a:avLst/>
          </a:prstGeom>
        </p:spPr>
        <p:txBody>
          <a:bodyPr vert="horz" wrap="square" lIns="0" tIns="12700" rIns="0" bIns="0" rtlCol="0">
            <a:spAutoFit/>
          </a:bodyPr>
          <a:lstStyle/>
          <a:p>
            <a:pPr marL="12700">
              <a:lnSpc>
                <a:spcPct val="100000"/>
              </a:lnSpc>
              <a:spcBef>
                <a:spcPts val="100"/>
              </a:spcBef>
            </a:pPr>
            <a:r>
              <a:rPr lang="en-IN" spc="-180" dirty="0">
                <a:solidFill>
                  <a:srgbClr val="464233"/>
                </a:solidFill>
                <a:latin typeface="Calibri "/>
                <a:cs typeface="Trebuchet MS"/>
              </a:rPr>
              <a:t>5</a:t>
            </a:r>
            <a:endParaRPr dirty="0">
              <a:latin typeface="Calibri "/>
              <a:cs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1367" y="128824"/>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marL="635" algn="ctr">
              <a:lnSpc>
                <a:spcPct val="100000"/>
              </a:lnSpc>
              <a:spcBef>
                <a:spcPts val="1500"/>
              </a:spcBef>
            </a:pPr>
            <a:r>
              <a:rPr spc="-10" dirty="0"/>
              <a:t>INTRODUCTION</a:t>
            </a:r>
          </a:p>
        </p:txBody>
      </p:sp>
      <p:sp>
        <p:nvSpPr>
          <p:cNvPr id="3" name="object 3"/>
          <p:cNvSpPr txBox="1"/>
          <p:nvPr/>
        </p:nvSpPr>
        <p:spPr>
          <a:xfrm>
            <a:off x="631367" y="1195925"/>
            <a:ext cx="11208385" cy="2142253"/>
          </a:xfrm>
          <a:prstGeom prst="rect">
            <a:avLst/>
          </a:prstGeom>
        </p:spPr>
        <p:txBody>
          <a:bodyPr vert="horz" wrap="square" lIns="0" tIns="13335" rIns="0" bIns="0" rtlCol="0">
            <a:spAutoFit/>
          </a:bodyPr>
          <a:lstStyle/>
          <a:p>
            <a:pPr marL="213360" lvl="1" indent="-205104">
              <a:spcBef>
                <a:spcPts val="105"/>
              </a:spcBef>
              <a:buClr>
                <a:srgbClr val="9CBDBC"/>
              </a:buClr>
              <a:buSzPct val="95000"/>
              <a:buFont typeface="Wingdings"/>
              <a:buChar char=""/>
              <a:tabLst>
                <a:tab pos="213360" algn="l"/>
              </a:tabLst>
            </a:pPr>
            <a:r>
              <a:rPr lang="en-US" sz="2000" dirty="0">
                <a:solidFill>
                  <a:srgbClr val="2D2B20"/>
                </a:solidFill>
                <a:latin typeface="Times New Roman" panose="02020603050405020304" pitchFamily="18" charset="0"/>
                <a:cs typeface="Times New Roman" panose="02020603050405020304" pitchFamily="18" charset="0"/>
              </a:rPr>
              <a:t>This study also discusses how error-mitigation techniques, such as zero-noise extrapolation and measurement correction, help improve the performance of quantum models without requiring full error correction.</a:t>
            </a:r>
          </a:p>
          <a:p>
            <a:pPr marL="213360" lvl="1" indent="-205104">
              <a:spcBef>
                <a:spcPts val="105"/>
              </a:spcBef>
              <a:buClr>
                <a:srgbClr val="9CBDBC"/>
              </a:buClr>
              <a:buSzPct val="95000"/>
              <a:buFont typeface="Wingdings"/>
              <a:buChar char=""/>
              <a:tabLst>
                <a:tab pos="213360" algn="l"/>
              </a:tabLst>
            </a:pPr>
            <a:r>
              <a:rPr lang="en-US" sz="2000" dirty="0">
                <a:solidFill>
                  <a:srgbClr val="2D2B20"/>
                </a:solidFill>
                <a:latin typeface="Times New Roman" panose="02020603050405020304" pitchFamily="18" charset="0"/>
                <a:cs typeface="Times New Roman" panose="02020603050405020304" pitchFamily="18" charset="0"/>
              </a:rPr>
              <a:t>By reviewing the strengths, limitations, and practical behavior of variational algorithms, this paper aims to provide a clear understanding of how quantum machine learning can be used today and how these models can be improved for future, more powerful quantum computers.</a:t>
            </a:r>
          </a:p>
          <a:p>
            <a:pPr marL="8256">
              <a:lnSpc>
                <a:spcPts val="2039"/>
              </a:lnSpc>
              <a:spcBef>
                <a:spcPts val="105"/>
              </a:spcBef>
              <a:buClr>
                <a:srgbClr val="9CBDBC"/>
              </a:buClr>
              <a:buSzPct val="95000"/>
              <a:tabLst>
                <a:tab pos="213360" algn="l"/>
              </a:tabLst>
            </a:pPr>
            <a:endParaRPr lang="en-US"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10917428" y="6476187"/>
            <a:ext cx="90805" cy="289823"/>
          </a:xfrm>
          <a:prstGeom prst="rect">
            <a:avLst/>
          </a:prstGeom>
        </p:spPr>
        <p:txBody>
          <a:bodyPr vert="horz" wrap="square" lIns="0" tIns="12700" rIns="0" bIns="0" rtlCol="0">
            <a:spAutoFit/>
          </a:bodyPr>
          <a:lstStyle/>
          <a:p>
            <a:pPr marL="12700">
              <a:lnSpc>
                <a:spcPct val="100000"/>
              </a:lnSpc>
              <a:spcBef>
                <a:spcPts val="100"/>
              </a:spcBef>
            </a:pPr>
            <a:r>
              <a:rPr lang="en-IN" spc="-180" dirty="0">
                <a:solidFill>
                  <a:srgbClr val="464233"/>
                </a:solidFill>
                <a:latin typeface="Calibri "/>
                <a:cs typeface="Trebuchet MS"/>
              </a:rPr>
              <a:t>6</a:t>
            </a:r>
            <a:endParaRPr dirty="0">
              <a:latin typeface="Calibri "/>
              <a:cs typeface="Trebuchet MS"/>
            </a:endParaRPr>
          </a:p>
        </p:txBody>
      </p:sp>
    </p:spTree>
    <p:extLst>
      <p:ext uri="{BB962C8B-B14F-4D97-AF65-F5344CB8AC3E}">
        <p14:creationId xmlns:p14="http://schemas.microsoft.com/office/powerpoint/2010/main" val="1358714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25" dirty="0"/>
              <a:t>7</a:t>
            </a:fld>
            <a:endParaRPr spc="-25"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55" dirty="0"/>
              <a:t>DATASET</a:t>
            </a:r>
            <a:r>
              <a:rPr spc="-50" dirty="0"/>
              <a:t> </a:t>
            </a:r>
            <a:r>
              <a:rPr spc="-10" dirty="0"/>
              <a:t>DESCRIPTION</a:t>
            </a:r>
          </a:p>
        </p:txBody>
      </p:sp>
      <p:sp>
        <p:nvSpPr>
          <p:cNvPr id="3" name="object 3"/>
          <p:cNvSpPr txBox="1"/>
          <p:nvPr/>
        </p:nvSpPr>
        <p:spPr>
          <a:xfrm>
            <a:off x="710285" y="1063244"/>
            <a:ext cx="10544175" cy="5257658"/>
          </a:xfrm>
          <a:prstGeom prst="rect">
            <a:avLst/>
          </a:prstGeom>
        </p:spPr>
        <p:txBody>
          <a:bodyPr vert="horz" wrap="square" lIns="0" tIns="12700" rIns="0" bIns="0" rtlCol="0">
            <a:spAutoFit/>
          </a:bodyPr>
          <a:lstStyle/>
          <a:p>
            <a:pPr marL="12700">
              <a:lnSpc>
                <a:spcPct val="100000"/>
              </a:lnSpc>
              <a:spcBef>
                <a:spcPts val="100"/>
              </a:spcBef>
            </a:pPr>
            <a:r>
              <a:rPr sz="3000" u="sng" dirty="0">
                <a:solidFill>
                  <a:srgbClr val="C00000"/>
                </a:solidFill>
                <a:uFill>
                  <a:solidFill>
                    <a:srgbClr val="C00000"/>
                  </a:solidFill>
                </a:uFill>
                <a:latin typeface="Times New Roman"/>
                <a:cs typeface="Times New Roman"/>
              </a:rPr>
              <a:t>Dataset</a:t>
            </a:r>
            <a:r>
              <a:rPr sz="3000" u="sng" spc="-80" dirty="0">
                <a:solidFill>
                  <a:srgbClr val="C00000"/>
                </a:solidFill>
                <a:uFill>
                  <a:solidFill>
                    <a:srgbClr val="C00000"/>
                  </a:solidFill>
                </a:uFill>
                <a:latin typeface="Times New Roman"/>
                <a:cs typeface="Times New Roman"/>
              </a:rPr>
              <a:t> </a:t>
            </a:r>
            <a:r>
              <a:rPr sz="3000" u="sng" spc="-10" dirty="0">
                <a:solidFill>
                  <a:srgbClr val="C00000"/>
                </a:solidFill>
                <a:uFill>
                  <a:solidFill>
                    <a:srgbClr val="C00000"/>
                  </a:solidFill>
                </a:uFill>
                <a:latin typeface="Times New Roman"/>
                <a:cs typeface="Times New Roman"/>
              </a:rPr>
              <a:t>Description</a:t>
            </a:r>
            <a:endParaRPr sz="3000" dirty="0">
              <a:latin typeface="Times New Roman"/>
              <a:cs typeface="Times New Roman"/>
            </a:endParaRPr>
          </a:p>
          <a:p>
            <a:pPr marL="12700" marR="5080">
              <a:lnSpc>
                <a:spcPct val="114999"/>
              </a:lnSpc>
              <a:spcBef>
                <a:spcPts val="2165"/>
              </a:spcBef>
            </a:pPr>
            <a:r>
              <a:rPr lang="en-US" sz="2000" dirty="0">
                <a:latin typeface="Times New Roman" panose="02020603050405020304" pitchFamily="18" charset="0"/>
                <a:cs typeface="Times New Roman" panose="02020603050405020304" pitchFamily="18" charset="0"/>
              </a:rPr>
              <a:t>This study uses a structured subset of the popular </a:t>
            </a:r>
            <a:r>
              <a:rPr lang="en-US" sz="2000" b="1" dirty="0">
                <a:latin typeface="Times New Roman" panose="02020603050405020304" pitchFamily="18" charset="0"/>
                <a:cs typeface="Times New Roman" panose="02020603050405020304" pitchFamily="18" charset="0"/>
              </a:rPr>
              <a:t>MNIST Handwritten Digit Dataset</a:t>
            </a:r>
            <a:r>
              <a:rPr lang="en-US" sz="2000" dirty="0">
                <a:latin typeface="Times New Roman" panose="02020603050405020304" pitchFamily="18" charset="0"/>
                <a:cs typeface="Times New Roman" panose="02020603050405020304" pitchFamily="18" charset="0"/>
              </a:rPr>
              <a:t>, focused specifically on </a:t>
            </a:r>
            <a:r>
              <a:rPr lang="en-US" sz="2000" b="1" dirty="0">
                <a:latin typeface="Times New Roman" panose="02020603050405020304" pitchFamily="18" charset="0"/>
                <a:cs typeface="Times New Roman" panose="02020603050405020304" pitchFamily="18" charset="0"/>
              </a:rPr>
              <a:t>binary image classification </a:t>
            </a:r>
            <a:r>
              <a:rPr lang="en-US" sz="2000" dirty="0">
                <a:latin typeface="Times New Roman" panose="02020603050405020304" pitchFamily="18" charset="0"/>
                <a:cs typeface="Times New Roman" panose="02020603050405020304" pitchFamily="18" charset="0"/>
              </a:rPr>
              <a:t>between digits “</a:t>
            </a:r>
            <a:r>
              <a:rPr lang="en-US" sz="2000" b="1"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7</a:t>
            </a:r>
            <a:r>
              <a:rPr lang="en-US" sz="2000" dirty="0">
                <a:latin typeface="Times New Roman" panose="02020603050405020304" pitchFamily="18" charset="0"/>
                <a:cs typeface="Times New Roman" panose="02020603050405020304" pitchFamily="18" charset="0"/>
              </a:rPr>
              <a:t>”. The dataset contains thousands of grayscale handwritten digit images, each representing a unique handwriting style. These two digits are chosen because they are visually similar in shape but still separable, making them ideal for testing and comparing Variational Quantum Machine Learning (VQML) algorithms on NISQ devices.</a:t>
            </a:r>
          </a:p>
          <a:p>
            <a:pPr marL="12700" marR="5080">
              <a:lnSpc>
                <a:spcPct val="114999"/>
              </a:lnSpc>
              <a:spcBef>
                <a:spcPts val="2165"/>
              </a:spcBef>
            </a:pPr>
            <a:r>
              <a:rPr lang="en-US" sz="2000" dirty="0">
                <a:latin typeface="Times New Roman" panose="02020603050405020304" pitchFamily="18" charset="0"/>
                <a:cs typeface="Times New Roman" panose="02020603050405020304" pitchFamily="18" charset="0"/>
              </a:rPr>
              <a:t>The dataset is preprocessed to convert each 28×28 pixel image into a smaller and more manageable 4×4 representation, allowing the data to fit within the qubit limits of current noisy quantum hardware. This reduced-dimension version ensures that all five quantum machine learning algorithms can be trained and evaluated consistently using the same set of inputs. The dataset is well-suited for benchmarking quantum models in classification tasks, particularly under noise and size constraints typical of NISQ devices.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25" dirty="0"/>
              <a:t>8</a:t>
            </a:fld>
            <a:endParaRPr spc="-25"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55" dirty="0"/>
              <a:t>DATASET</a:t>
            </a:r>
            <a:r>
              <a:rPr spc="-50" dirty="0"/>
              <a:t> </a:t>
            </a:r>
            <a:r>
              <a:rPr spc="-10" dirty="0"/>
              <a:t>DESCRIPTION</a:t>
            </a:r>
          </a:p>
        </p:txBody>
      </p:sp>
      <p:sp>
        <p:nvSpPr>
          <p:cNvPr id="3" name="object 3"/>
          <p:cNvSpPr txBox="1"/>
          <p:nvPr/>
        </p:nvSpPr>
        <p:spPr>
          <a:xfrm>
            <a:off x="710285" y="1063244"/>
            <a:ext cx="10544175" cy="5445080"/>
          </a:xfrm>
          <a:prstGeom prst="rect">
            <a:avLst/>
          </a:prstGeom>
        </p:spPr>
        <p:txBody>
          <a:bodyPr vert="horz" wrap="square" lIns="0" tIns="12700" rIns="0" bIns="0" rtlCol="0">
            <a:spAutoFit/>
          </a:bodyPr>
          <a:lstStyle/>
          <a:p>
            <a:pPr marL="12700" marR="5080">
              <a:lnSpc>
                <a:spcPct val="114999"/>
              </a:lnSpc>
              <a:spcBef>
                <a:spcPts val="2165"/>
              </a:spcBef>
            </a:pPr>
            <a:endParaRPr lang="en-IN" sz="2000" dirty="0">
              <a:latin typeface="Times New Roman" panose="02020603050405020304" pitchFamily="18" charset="0"/>
              <a:cs typeface="Times New Roman" panose="02020603050405020304" pitchFamily="18" charset="0"/>
            </a:endParaRPr>
          </a:p>
          <a:p>
            <a:pPr marL="12700">
              <a:lnSpc>
                <a:spcPct val="100000"/>
              </a:lnSpc>
              <a:spcBef>
                <a:spcPts val="1150"/>
              </a:spcBef>
            </a:pPr>
            <a:r>
              <a:rPr sz="2000" b="1" u="sng" dirty="0">
                <a:uFill>
                  <a:solidFill>
                    <a:srgbClr val="000000"/>
                  </a:solidFill>
                </a:uFill>
                <a:latin typeface="Times New Roman"/>
                <a:cs typeface="Times New Roman"/>
              </a:rPr>
              <a:t>4.1.Feature</a:t>
            </a:r>
            <a:r>
              <a:rPr sz="2000" b="1" u="sng" spc="-35" dirty="0">
                <a:uFill>
                  <a:solidFill>
                    <a:srgbClr val="000000"/>
                  </a:solidFill>
                </a:uFill>
                <a:latin typeface="Times New Roman"/>
                <a:cs typeface="Times New Roman"/>
              </a:rPr>
              <a:t> </a:t>
            </a:r>
            <a:r>
              <a:rPr sz="2000" b="1" u="sng" spc="-10" dirty="0">
                <a:uFill>
                  <a:solidFill>
                    <a:srgbClr val="000000"/>
                  </a:solidFill>
                </a:uFill>
                <a:latin typeface="Times New Roman"/>
                <a:cs typeface="Times New Roman"/>
              </a:rPr>
              <a:t>Description</a:t>
            </a:r>
            <a:endParaRPr lang="en-IN" sz="2000" b="1" u="sng" spc="-10" dirty="0">
              <a:uFill>
                <a:solidFill>
                  <a:srgbClr val="000000"/>
                </a:solidFill>
              </a:uFill>
              <a:latin typeface="Times New Roman"/>
              <a:cs typeface="Times New Roman"/>
            </a:endParaRPr>
          </a:p>
          <a:p>
            <a:pPr marL="12700">
              <a:lnSpc>
                <a:spcPct val="100000"/>
              </a:lnSpc>
              <a:spcBef>
                <a:spcPts val="1150"/>
              </a:spcBef>
            </a:pPr>
            <a:r>
              <a:rPr lang="en-US" sz="2000" dirty="0">
                <a:latin typeface="Times New Roman" panose="02020603050405020304" pitchFamily="18" charset="0"/>
                <a:cs typeface="Times New Roman" panose="02020603050405020304" pitchFamily="18" charset="0"/>
              </a:rPr>
              <a:t>The dataset contains </a:t>
            </a:r>
            <a:r>
              <a:rPr lang="en-US" sz="2000" b="1" dirty="0">
                <a:latin typeface="Times New Roman" panose="02020603050405020304" pitchFamily="18" charset="0"/>
                <a:cs typeface="Times New Roman" panose="02020603050405020304" pitchFamily="18" charset="0"/>
              </a:rPr>
              <a:t>image features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pixel intensity values</a:t>
            </a:r>
            <a:r>
              <a:rPr lang="en-US" sz="2000" dirty="0">
                <a:latin typeface="Times New Roman" panose="02020603050405020304" pitchFamily="18" charset="0"/>
                <a:cs typeface="Times New Roman" panose="02020603050405020304" pitchFamily="18" charset="0"/>
              </a:rPr>
              <a:t>, and a </a:t>
            </a:r>
            <a:r>
              <a:rPr lang="en-US" sz="2000" b="1" dirty="0">
                <a:latin typeface="Times New Roman" panose="02020603050405020304" pitchFamily="18" charset="0"/>
                <a:cs typeface="Times New Roman" panose="02020603050405020304" pitchFamily="18" charset="0"/>
              </a:rPr>
              <a:t>binary class label</a:t>
            </a:r>
            <a:r>
              <a:rPr lang="en-US" sz="2000" dirty="0">
                <a:latin typeface="Times New Roman" panose="02020603050405020304" pitchFamily="18" charset="0"/>
                <a:cs typeface="Times New Roman" panose="02020603050405020304" pitchFamily="18" charset="0"/>
              </a:rPr>
              <a:t>. Each sample includes the following:</a:t>
            </a:r>
          </a:p>
          <a:p>
            <a:pPr marL="12700">
              <a:lnSpc>
                <a:spcPct val="100000"/>
              </a:lnSpc>
              <a:spcBef>
                <a:spcPts val="1150"/>
              </a:spcBef>
            </a:pPr>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 Image-Based Features (After Preprocessing)</a:t>
            </a:r>
          </a:p>
          <a:p>
            <a:r>
              <a:rPr lang="en-IN" sz="2000" dirty="0">
                <a:latin typeface="Times New Roman" panose="02020603050405020304" pitchFamily="18" charset="0"/>
                <a:cs typeface="Times New Roman" panose="02020603050405020304" pitchFamily="18" charset="0"/>
              </a:rPr>
              <a:t>Each handwritten digit image is represented using a reduced </a:t>
            </a:r>
            <a:r>
              <a:rPr lang="en-IN" sz="2000" b="1" dirty="0">
                <a:latin typeface="Times New Roman" panose="02020603050405020304" pitchFamily="18" charset="0"/>
                <a:cs typeface="Times New Roman" panose="02020603050405020304" pitchFamily="18" charset="0"/>
              </a:rPr>
              <a:t>4×4 grid (16 pixel intensities)</a:t>
            </a:r>
            <a:r>
              <a:rPr lang="en-IN"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Pixel values</a:t>
            </a:r>
            <a:r>
              <a:rPr lang="en-IN" sz="2000" dirty="0">
                <a:latin typeface="Times New Roman" panose="02020603050405020304" pitchFamily="18" charset="0"/>
                <a:cs typeface="Times New Roman" panose="02020603050405020304" pitchFamily="18" charset="0"/>
              </a:rPr>
              <a:t> range between 0 and 255 (converted to 0–1 during normalization).</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Each pixel intensity represents the darkness/brightness of a specific region in the digit image.</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These 16 pixel values form the input features for all quantum algorithms.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Encoded Quantum Features</a:t>
            </a:r>
          </a:p>
          <a:p>
            <a:r>
              <a:rPr lang="en-IN" sz="2000" dirty="0">
                <a:latin typeface="Times New Roman" panose="02020603050405020304" pitchFamily="18" charset="0"/>
                <a:cs typeface="Times New Roman" panose="02020603050405020304" pitchFamily="18" charset="0"/>
              </a:rPr>
              <a:t>After preprocessing, the pixel values are encoded for quantum circuits using:</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Angle Encoding</a:t>
            </a:r>
            <a:r>
              <a:rPr lang="en-IN" sz="2000" dirty="0">
                <a:latin typeface="Times New Roman" panose="02020603050405020304" pitchFamily="18" charset="0"/>
                <a:cs typeface="Times New Roman" panose="02020603050405020304" pitchFamily="18" charset="0"/>
              </a:rPr>
              <a:t>: Each pixel is mapped to a rotation angle </a:t>
            </a:r>
            <a:r>
              <a:rPr lang="el-GR" sz="2000" dirty="0">
                <a:latin typeface="Times New Roman" panose="02020603050405020304" pitchFamily="18" charset="0"/>
                <a:cs typeface="Times New Roman" panose="02020603050405020304" pitchFamily="18" charset="0"/>
              </a:rPr>
              <a:t>θ = (</a:t>
            </a:r>
            <a:r>
              <a:rPr lang="en-IN" sz="2000" dirty="0" err="1">
                <a:latin typeface="Times New Roman" panose="02020603050405020304" pitchFamily="18" charset="0"/>
                <a:cs typeface="Times New Roman" panose="02020603050405020304" pitchFamily="18" charset="0"/>
              </a:rPr>
              <a:t>pixel_value</a:t>
            </a:r>
            <a:r>
              <a:rPr lang="en-IN" sz="2000" dirty="0">
                <a:latin typeface="Times New Roman" panose="02020603050405020304" pitchFamily="18" charset="0"/>
                <a:cs typeface="Times New Roman" panose="02020603050405020304" pitchFamily="18" charset="0"/>
              </a:rPr>
              <a:t> × </a:t>
            </a:r>
            <a:r>
              <a:rPr lang="el-GR" sz="2000" dirty="0">
                <a:latin typeface="Times New Roman" panose="02020603050405020304" pitchFamily="18" charset="0"/>
                <a:cs typeface="Times New Roman" panose="02020603050405020304" pitchFamily="18" charset="0"/>
              </a:rPr>
              <a:t>π).</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These encoded angles serve as direct inputs to parameterized quantum circuits used by VQC, QSVM, QNN, QCNN, and VQFE.</a:t>
            </a:r>
          </a:p>
        </p:txBody>
      </p:sp>
    </p:spTree>
    <p:extLst>
      <p:ext uri="{BB962C8B-B14F-4D97-AF65-F5344CB8AC3E}">
        <p14:creationId xmlns:p14="http://schemas.microsoft.com/office/powerpoint/2010/main" val="4038335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25" dirty="0"/>
              <a:t>9</a:t>
            </a:fld>
            <a:endParaRPr spc="-25"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55" dirty="0"/>
              <a:t>DATASET</a:t>
            </a:r>
            <a:r>
              <a:rPr spc="-50" dirty="0"/>
              <a:t> </a:t>
            </a:r>
            <a:r>
              <a:rPr spc="-10" dirty="0"/>
              <a:t>DESCRIPTION</a:t>
            </a:r>
          </a:p>
        </p:txBody>
      </p:sp>
      <p:sp>
        <p:nvSpPr>
          <p:cNvPr id="3" name="object 3"/>
          <p:cNvSpPr txBox="1"/>
          <p:nvPr/>
        </p:nvSpPr>
        <p:spPr>
          <a:xfrm>
            <a:off x="710285" y="1426566"/>
            <a:ext cx="10891520" cy="5245026"/>
          </a:xfrm>
          <a:prstGeom prst="rect">
            <a:avLst/>
          </a:prstGeom>
        </p:spPr>
        <p:txBody>
          <a:bodyPr vert="horz" wrap="square" lIns="0" tIns="12700" rIns="0" bIns="0" rtlCol="0">
            <a:spAutoFit/>
          </a:bodyPr>
          <a:lstStyle/>
          <a:p>
            <a:r>
              <a:rPr lang="en-US" sz="2000" b="1" dirty="0">
                <a:latin typeface="Times New Roman" panose="02020603050405020304" pitchFamily="18" charset="0"/>
                <a:cs typeface="Times New Roman" panose="02020603050405020304" pitchFamily="18" charset="0"/>
              </a:rPr>
              <a:t>3. Additional Processing Features (Optional)</a:t>
            </a:r>
          </a:p>
          <a:p>
            <a:r>
              <a:rPr lang="en-US" sz="2000" dirty="0">
                <a:latin typeface="Times New Roman" panose="02020603050405020304" pitchFamily="18" charset="0"/>
                <a:cs typeface="Times New Roman" panose="02020603050405020304" pitchFamily="18" charset="0"/>
              </a:rPr>
              <a:t>To reduce noise or dimensionality, the dataset may include: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Normalized pixel features</a:t>
            </a:r>
            <a:r>
              <a:rPr lang="en-US" sz="2000" dirty="0">
                <a:latin typeface="Times New Roman" panose="02020603050405020304" pitchFamily="18" charset="0"/>
                <a:cs typeface="Times New Roman" panose="02020603050405020304" pitchFamily="18" charset="0"/>
              </a:rPr>
              <a:t> (scaled 0–1)</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Principal Component Analysis (PCA)</a:t>
            </a:r>
            <a:r>
              <a:rPr lang="en-US" sz="2000" dirty="0">
                <a:latin typeface="Times New Roman" panose="02020603050405020304" pitchFamily="18" charset="0"/>
                <a:cs typeface="Times New Roman" panose="02020603050405020304" pitchFamily="18" charset="0"/>
              </a:rPr>
              <a:t> features (4–8 dimensions)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These optional features help evaluate how different quantum models react to various forms of preprocessing.</a:t>
            </a:r>
          </a:p>
          <a:p>
            <a:pPr marL="12700">
              <a:lnSpc>
                <a:spcPct val="100000"/>
              </a:lnSpc>
              <a:spcBef>
                <a:spcPts val="1165"/>
              </a:spcBef>
            </a:pPr>
            <a:r>
              <a:rPr sz="2000" b="1" u="sng" dirty="0">
                <a:uFill>
                  <a:solidFill>
                    <a:srgbClr val="000000"/>
                  </a:solidFill>
                </a:uFill>
                <a:latin typeface="Times New Roman"/>
                <a:cs typeface="Times New Roman"/>
              </a:rPr>
              <a:t>4.2Target</a:t>
            </a:r>
            <a:r>
              <a:rPr sz="2000" b="1" u="sng" spc="-45" dirty="0">
                <a:uFill>
                  <a:solidFill>
                    <a:srgbClr val="000000"/>
                  </a:solidFill>
                </a:uFill>
                <a:latin typeface="Times New Roman"/>
                <a:cs typeface="Times New Roman"/>
              </a:rPr>
              <a:t> </a:t>
            </a:r>
            <a:r>
              <a:rPr sz="2000" b="1" u="sng" dirty="0">
                <a:uFill>
                  <a:solidFill>
                    <a:srgbClr val="000000"/>
                  </a:solidFill>
                </a:uFill>
                <a:latin typeface="Times New Roman"/>
                <a:cs typeface="Times New Roman"/>
              </a:rPr>
              <a:t>Variable</a:t>
            </a:r>
            <a:r>
              <a:rPr sz="2000" b="1" u="sng" spc="-30" dirty="0">
                <a:uFill>
                  <a:solidFill>
                    <a:srgbClr val="000000"/>
                  </a:solidFill>
                </a:uFill>
                <a:latin typeface="Times New Roman"/>
                <a:cs typeface="Times New Roman"/>
              </a:rPr>
              <a:t> </a:t>
            </a:r>
            <a:r>
              <a:rPr sz="2000" b="1" u="sng" dirty="0">
                <a:uFill>
                  <a:solidFill>
                    <a:srgbClr val="000000"/>
                  </a:solidFill>
                </a:uFill>
                <a:latin typeface="Times New Roman" panose="02020603050405020304" pitchFamily="18" charset="0"/>
                <a:cs typeface="Times New Roman" panose="02020603050405020304" pitchFamily="18" charset="0"/>
              </a:rPr>
              <a:t>(</a:t>
            </a:r>
            <a:r>
              <a:rPr lang="en-IN" sz="2000" b="1" u="sng" dirty="0">
                <a:latin typeface="Times New Roman" panose="02020603050405020304" pitchFamily="18" charset="0"/>
                <a:cs typeface="Times New Roman" panose="02020603050405020304" pitchFamily="18" charset="0"/>
              </a:rPr>
              <a:t>Digit Classification</a:t>
            </a:r>
            <a:r>
              <a:rPr sz="2000" b="1" u="sng" spc="-10" dirty="0">
                <a:uFill>
                  <a:solidFill>
                    <a:srgbClr val="000000"/>
                  </a:solidFill>
                </a:uFill>
                <a:latin typeface="Times New Roman" panose="02020603050405020304" pitchFamily="18" charset="0"/>
                <a:cs typeface="Times New Roman" panose="02020603050405020304" pitchFamily="18" charset="0"/>
              </a:rPr>
              <a:t>)</a:t>
            </a:r>
            <a:endParaRPr lang="en-IN" sz="2000" b="1" u="sng" spc="-10" dirty="0">
              <a:uFill>
                <a:solidFill>
                  <a:srgbClr val="000000"/>
                </a:solidFill>
              </a:uFill>
              <a:latin typeface="Times New Roman" panose="02020603050405020304" pitchFamily="18" charset="0"/>
              <a:cs typeface="Times New Roman" panose="02020603050405020304" pitchFamily="18" charset="0"/>
            </a:endParaRPr>
          </a:p>
          <a:p>
            <a:pPr marL="12700">
              <a:lnSpc>
                <a:spcPct val="100000"/>
              </a:lnSpc>
              <a:spcBef>
                <a:spcPts val="1165"/>
              </a:spcBef>
            </a:pPr>
            <a:endParaRPr lang="en-IN" sz="2000" b="1" u="sng" spc="-10" dirty="0">
              <a:uFill>
                <a:solidFill>
                  <a:srgbClr val="000000"/>
                </a:solidFill>
              </a:uFill>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Digit Label (Binary Target Variable)</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Label = 0 → Digit “2”</a:t>
            </a:r>
            <a:endParaRPr lang="en-IN"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Label = 1 → Digit “7”</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target variable indicates which digit the image represents.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This binary classification setup ensures that: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All five VQML algorithms can be compared fairly</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Evaluation metrics remain consistent</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dataset matches typical VQML benchmark settings used in research studies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10</a:t>
            </a:fld>
            <a:endParaRPr spc="-50" dirty="0"/>
          </a:p>
        </p:txBody>
      </p:sp>
      <p:sp>
        <p:nvSpPr>
          <p:cNvPr id="2" name="object 2"/>
          <p:cNvSpPr txBox="1"/>
          <p:nvPr/>
        </p:nvSpPr>
        <p:spPr>
          <a:xfrm>
            <a:off x="630936" y="1016863"/>
            <a:ext cx="11141075" cy="4125296"/>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1.</a:t>
            </a:r>
            <a:r>
              <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rPr>
              <a:t>Variational Quantum Classifier (VQC)</a:t>
            </a: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 </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[6] [13]</a:t>
            </a:r>
            <a:endParaRPr lang="en-US" sz="2000" dirty="0">
              <a:latin typeface="Times New Roman" panose="02020603050405020304" pitchFamily="18" charset="0"/>
              <a:cs typeface="Times New Roman" panose="02020603050405020304" pitchFamily="18" charset="0"/>
            </a:endParaRPr>
          </a:p>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Variational Quantum Classifier (VQC) is a supervised learning algorithm designed specifically for classification problems. It combines quantum feature encoding with a trainable quantum circuit to learn decision boundaries between different classes.</a:t>
            </a:r>
          </a:p>
          <a:p>
            <a:pPr marL="342900" indent="-342900">
              <a:lnSpc>
                <a:spcPct val="150000"/>
              </a:lnSpc>
              <a:buClr>
                <a:srgbClr val="689C9A"/>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algorithm first encodes classical data into quantum states and then applies a parameterized ansatz that transforms these states into a new feature space. Measurements of specific observables determine the predicted class labels.</a:t>
            </a: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2911642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11</a:t>
            </a:fld>
            <a:endParaRPr spc="-50" dirty="0"/>
          </a:p>
        </p:txBody>
      </p:sp>
      <p:sp>
        <p:nvSpPr>
          <p:cNvPr id="2" name="object 2"/>
          <p:cNvSpPr txBox="1"/>
          <p:nvPr/>
        </p:nvSpPr>
        <p:spPr>
          <a:xfrm>
            <a:off x="630936" y="1016863"/>
            <a:ext cx="11141075" cy="5420523"/>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2.</a:t>
            </a:r>
            <a:r>
              <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rPr>
              <a:t>Quantum Neural Network (QNN)</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[4]</a:t>
            </a:r>
            <a:endPar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endParaRPr>
          </a:p>
          <a:p>
            <a:pPr marL="20320">
              <a:lnSpc>
                <a:spcPct val="100000"/>
              </a:lnSpc>
              <a:spcBef>
                <a:spcPts val="100"/>
              </a:spcBef>
              <a:buClr>
                <a:srgbClr val="C00000"/>
              </a:buClr>
              <a:tabLst>
                <a:tab pos="318770" algn="l"/>
              </a:tabLst>
            </a:pPr>
            <a:endParaRPr lang="en-US" sz="2000" dirty="0">
              <a:latin typeface="Times New Roman" panose="02020603050405020304" pitchFamily="18" charset="0"/>
              <a:cs typeface="Times New Roman" panose="02020603050405020304" pitchFamily="18" charset="0"/>
            </a:endParaRPr>
          </a:p>
          <a:p>
            <a:pPr marL="363220" indent="-342900">
              <a:lnSpc>
                <a:spcPct val="150000"/>
              </a:lnSpc>
              <a:spcBef>
                <a:spcPts val="100"/>
              </a:spcBef>
              <a:buClr>
                <a:srgbClr val="689C9A"/>
              </a:buClr>
              <a:buFont typeface="Wingdings" panose="05000000000000000000" pitchFamily="2" charset="2"/>
              <a:buChar char="Ø"/>
              <a:tabLst>
                <a:tab pos="318770" algn="l"/>
              </a:tabLst>
            </a:pPr>
            <a:r>
              <a:rPr lang="en-US" sz="2000" dirty="0">
                <a:latin typeface="Times New Roman" panose="02020603050405020304" pitchFamily="18" charset="0"/>
                <a:cs typeface="Times New Roman" panose="02020603050405020304" pitchFamily="18" charset="0"/>
              </a:rPr>
              <a:t>Quantum Neural Networks (QNNs) are learning models inspired by classical neural networks but implemented using quantum circuits. Instead of classical weights and neurons, QNNs use qubits and parameterized quantum gates to perform computation.</a:t>
            </a:r>
          </a:p>
          <a:p>
            <a:pPr marL="363220" indent="-342900">
              <a:lnSpc>
                <a:spcPct val="150000"/>
              </a:lnSpc>
              <a:spcBef>
                <a:spcPts val="100"/>
              </a:spcBef>
              <a:buClr>
                <a:srgbClr val="689C9A"/>
              </a:buClr>
              <a:buFont typeface="Wingdings" panose="05000000000000000000" pitchFamily="2" charset="2"/>
              <a:buChar char="Ø"/>
              <a:tabLst>
                <a:tab pos="318770" algn="l"/>
              </a:tabLst>
            </a:pPr>
            <a:endParaRPr lang="en-US" sz="2000" dirty="0">
              <a:latin typeface="Times New Roman" panose="02020603050405020304" pitchFamily="18" charset="0"/>
              <a:cs typeface="Times New Roman" panose="02020603050405020304" pitchFamily="18" charset="0"/>
            </a:endParaRPr>
          </a:p>
          <a:p>
            <a:pPr marL="363220" indent="-342900">
              <a:lnSpc>
                <a:spcPct val="150000"/>
              </a:lnSpc>
              <a:spcBef>
                <a:spcPts val="100"/>
              </a:spcBef>
              <a:buClr>
                <a:srgbClr val="689C9A"/>
              </a:buClr>
              <a:buFont typeface="Wingdings" panose="05000000000000000000" pitchFamily="2" charset="2"/>
              <a:buChar char="Ø"/>
              <a:tabLst>
                <a:tab pos="318770" algn="l"/>
              </a:tabLst>
            </a:pPr>
            <a:r>
              <a:rPr lang="en-US" sz="2000" dirty="0">
                <a:latin typeface="Times New Roman" panose="02020603050405020304" pitchFamily="18" charset="0"/>
                <a:cs typeface="Times New Roman" panose="02020603050405020304" pitchFamily="18" charset="0"/>
              </a:rPr>
              <a:t>Input data is first encoded into quantum states using feature maps. These states are then passed through multiple variational layers where trainable gates modify the amplitudes and phases of the qubits.</a:t>
            </a:r>
          </a:p>
          <a:p>
            <a:pPr marL="363220" indent="-342900">
              <a:lnSpc>
                <a:spcPct val="150000"/>
              </a:lnSpc>
              <a:spcBef>
                <a:spcPts val="100"/>
              </a:spcBef>
              <a:buClr>
                <a:srgbClr val="689C9A"/>
              </a:buClr>
              <a:buFont typeface="Wingdings" panose="05000000000000000000" pitchFamily="2" charset="2"/>
              <a:buChar char="Ø"/>
              <a:tabLst>
                <a:tab pos="318770" algn="l"/>
              </a:tabLst>
            </a:pPr>
            <a:endParaRPr lang="en-US" sz="2000" dirty="0">
              <a:latin typeface="Times New Roman" panose="02020603050405020304" pitchFamily="18" charset="0"/>
              <a:cs typeface="Times New Roman" panose="02020603050405020304" pitchFamily="18" charset="0"/>
            </a:endParaRPr>
          </a:p>
          <a:p>
            <a:pPr marL="363220" indent="-342900">
              <a:lnSpc>
                <a:spcPct val="150000"/>
              </a:lnSpc>
              <a:spcBef>
                <a:spcPts val="100"/>
              </a:spcBef>
              <a:buClr>
                <a:srgbClr val="689C9A"/>
              </a:buClr>
              <a:buFont typeface="Wingdings" panose="05000000000000000000" pitchFamily="2" charset="2"/>
              <a:buChar char="Ø"/>
              <a:tabLst>
                <a:tab pos="318770" algn="l"/>
              </a:tabLst>
            </a:pPr>
            <a:r>
              <a:rPr lang="en-US" sz="2000" dirty="0">
                <a:latin typeface="Times New Roman" panose="02020603050405020304" pitchFamily="18" charset="0"/>
                <a:cs typeface="Times New Roman" panose="02020603050405020304" pitchFamily="18" charset="0"/>
              </a:rPr>
              <a:t>After processing, measurements are taken to produce outputs and a loss function is computed. A classical optimizer updates the parameters to improve performance, and due to their shallow depth and fewer parameters, QNNs are easier to train on noisy hardware.</a:t>
            </a: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591400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12</a:t>
            </a:fld>
            <a:endParaRPr spc="-50" dirty="0"/>
          </a:p>
        </p:txBody>
      </p:sp>
      <p:sp>
        <p:nvSpPr>
          <p:cNvPr id="2" name="object 2"/>
          <p:cNvSpPr txBox="1"/>
          <p:nvPr/>
        </p:nvSpPr>
        <p:spPr>
          <a:xfrm>
            <a:off x="630936" y="1016863"/>
            <a:ext cx="11141075" cy="2265813"/>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During training, the parameters are adjusted to minimize classification error using classical optimization. Because VQC uses shallow circuits and hybrid optimization, it requires fewer quantum resources and performs reliably even in the presence of noise, making it one of the most practical algorithms for real NISQ-based quantum machine learning.</a:t>
            </a: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3115152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13</a:t>
            </a:fld>
            <a:endParaRPr spc="-50" dirty="0"/>
          </a:p>
        </p:txBody>
      </p:sp>
      <p:sp>
        <p:nvSpPr>
          <p:cNvPr id="2" name="object 2"/>
          <p:cNvSpPr txBox="1"/>
          <p:nvPr/>
        </p:nvSpPr>
        <p:spPr>
          <a:xfrm>
            <a:off x="630936" y="1016863"/>
            <a:ext cx="11141075" cy="4586961"/>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3.</a:t>
            </a:r>
            <a:r>
              <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rPr>
              <a:t>Quantum Convolutional Neural Network (QCNN)</a:t>
            </a: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 </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[4]</a:t>
            </a:r>
            <a:endPar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endParaRPr>
          </a:p>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Quantum Convolutional Neural Networks (QCNNs) are quantum versions of classical convolutional neural networks that use local operations to extract important features from data. The circuit is structured into convolution layers that apply unitary gates to neighboring qubits and pooling layers that reduce the number of qubits by combining or discarding less important information.</a:t>
            </a:r>
          </a:p>
          <a:p>
            <a:pPr marL="342900" indent="-342900">
              <a:lnSpc>
                <a:spcPct val="150000"/>
              </a:lnSpc>
              <a:buClr>
                <a:srgbClr val="689C9A"/>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This hierarchical structure allows QCNNs to progressively compress information while preserving relevant patterns. As a result, fewer parameters are required compared to fully connected circuits, and the training process becomes more stable. </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1545735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14</a:t>
            </a:fld>
            <a:endParaRPr spc="-50" dirty="0"/>
          </a:p>
        </p:txBody>
      </p:sp>
      <p:sp>
        <p:nvSpPr>
          <p:cNvPr id="2" name="object 2"/>
          <p:cNvSpPr txBox="1"/>
          <p:nvPr/>
        </p:nvSpPr>
        <p:spPr>
          <a:xfrm>
            <a:off x="630936" y="1016863"/>
            <a:ext cx="11141075" cy="1342483"/>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QCNNs also avoid the barren plateau problem, where gradients vanish during training. These properties make QCNNs highly efficient and suitable for implementation on NISQ devices.</a:t>
            </a: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2712074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15</a:t>
            </a:fld>
            <a:endParaRPr spc="-50" dirty="0"/>
          </a:p>
        </p:txBody>
      </p:sp>
      <p:sp>
        <p:nvSpPr>
          <p:cNvPr id="2" name="object 2"/>
          <p:cNvSpPr txBox="1"/>
          <p:nvPr/>
        </p:nvSpPr>
        <p:spPr>
          <a:xfrm>
            <a:off x="630936" y="1016863"/>
            <a:ext cx="11141075" cy="4586961"/>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4.</a:t>
            </a:r>
            <a:r>
              <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rPr>
              <a:t>Quantum Support Vector Machine (QSVM)</a:t>
            </a: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 </a:t>
            </a:r>
            <a:r>
              <a:rPr kumimoji="0" 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[6]</a:t>
            </a:r>
            <a:endPar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endParaRPr>
          </a:p>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Quantum Support Vector Machine (QSVM) is a quantum-enhanced version of the classical support vector machine algorithm. Instead of computing similarity between data points using classical kernels, QSVM uses a quantum computer to embed data into a high-dimensional Hilbert space and calculate quantum kernels.</a:t>
            </a:r>
          </a:p>
          <a:p>
            <a:pPr marL="342900" indent="-342900">
              <a:lnSpc>
                <a:spcPct val="150000"/>
              </a:lnSpc>
              <a:buClr>
                <a:srgbClr val="689C9A"/>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kernel values measure the similarity between samples and are then passed to a classical SVM to determine the optimal decision boundary. By exploiting quantum feature spaces that are difficult to simulate classically, QSVM can achieve better separation of complex data. </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2918737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16</a:t>
            </a:fld>
            <a:endParaRPr spc="-50" dirty="0"/>
          </a:p>
        </p:txBody>
      </p:sp>
      <p:sp>
        <p:nvSpPr>
          <p:cNvPr id="2" name="object 2"/>
          <p:cNvSpPr txBox="1"/>
          <p:nvPr/>
        </p:nvSpPr>
        <p:spPr>
          <a:xfrm>
            <a:off x="630936" y="1016863"/>
            <a:ext cx="11141075" cy="1342483"/>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Since only the kernel computation is quantum and the rest is classical, the method requires shallow circuits and is highly suitable for NISQ hardware.</a:t>
            </a: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415460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17</a:t>
            </a:fld>
            <a:endParaRPr spc="-50" dirty="0"/>
          </a:p>
        </p:txBody>
      </p:sp>
      <p:sp>
        <p:nvSpPr>
          <p:cNvPr id="2" name="object 2"/>
          <p:cNvSpPr txBox="1"/>
          <p:nvPr/>
        </p:nvSpPr>
        <p:spPr>
          <a:xfrm>
            <a:off x="630936" y="1016863"/>
            <a:ext cx="11141075" cy="5510291"/>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r>
              <a:rPr lang="en-US" sz="3000" spc="-50" dirty="0">
                <a:solidFill>
                  <a:srgbClr val="C00000"/>
                </a:solidFill>
                <a:uFill>
                  <a:solidFill>
                    <a:srgbClr val="C00000"/>
                  </a:solidFill>
                </a:uFill>
                <a:latin typeface="Times New Roman" panose="02020603050405020304" pitchFamily="18" charset="0"/>
                <a:cs typeface="Times New Roman" panose="02020603050405020304" pitchFamily="18" charset="0"/>
              </a:rPr>
              <a:t>5.</a:t>
            </a:r>
            <a:r>
              <a:rPr lang="en-US" sz="3000" u="sng" spc="-50" dirty="0">
                <a:solidFill>
                  <a:srgbClr val="C00000"/>
                </a:solidFill>
                <a:uFill>
                  <a:solidFill>
                    <a:srgbClr val="C00000"/>
                  </a:solidFill>
                </a:uFill>
                <a:latin typeface="Times New Roman" panose="02020603050405020304" pitchFamily="18" charset="0"/>
                <a:cs typeface="Times New Roman" panose="02020603050405020304" pitchFamily="18" charset="0"/>
              </a:rPr>
              <a:t>Variational Quantum Feature Embedding (VQFE)</a:t>
            </a:r>
          </a:p>
          <a:p>
            <a:pPr marL="20320">
              <a:lnSpc>
                <a:spcPct val="100000"/>
              </a:lnSpc>
              <a:spcBef>
                <a:spcPts val="100"/>
              </a:spcBef>
              <a:buClr>
                <a:srgbClr val="C00000"/>
              </a:buClr>
              <a:tabLst>
                <a:tab pos="318770" algn="l"/>
              </a:tabLst>
            </a:pPr>
            <a:endParaRPr lang="en-US" sz="3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Variational Quantum Feature Embedding (VQFE) is a trainable data encoding technique used to map classical inputs into quantum states. Unlike fixed feature maps that remain constant, VQFE introduces adjustable parameters in the encoding circuit.</a:t>
            </a:r>
          </a:p>
          <a:p>
            <a:pPr marL="342900" indent="-342900">
              <a:lnSpc>
                <a:spcPct val="150000"/>
              </a:lnSpc>
              <a:buClr>
                <a:srgbClr val="689C9A"/>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During training, these parameters are optimized so that the embedding better separates different classes of data. This adaptive encoding improves model accuracy and reduces the burden on later layers of the quantum circuit. </a:t>
            </a:r>
          </a:p>
          <a:p>
            <a:pPr marL="342900" indent="-342900">
              <a:lnSpc>
                <a:spcPct val="150000"/>
              </a:lnSpc>
              <a:buClr>
                <a:srgbClr val="689C9A"/>
              </a:buCl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Because it increases expressiveness without increasing circuit depth, VQFE helps create efficient and noise-resilient models, which is especially important for learning tasks on NISQ devices.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630936" y="252984"/>
            <a:ext cx="11212195" cy="78486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spc="-45" dirty="0"/>
              <a:t>LITERATURE</a:t>
            </a:r>
            <a:r>
              <a:rPr spc="-130" dirty="0"/>
              <a:t> </a:t>
            </a:r>
            <a:r>
              <a:rPr spc="-10" dirty="0"/>
              <a:t>SURVEY</a:t>
            </a:r>
          </a:p>
        </p:txBody>
      </p:sp>
    </p:spTree>
    <p:extLst>
      <p:ext uri="{BB962C8B-B14F-4D97-AF65-F5344CB8AC3E}">
        <p14:creationId xmlns:p14="http://schemas.microsoft.com/office/powerpoint/2010/main" val="2263331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18</a:t>
            </a:fld>
            <a:endParaRPr spc="-50" dirty="0"/>
          </a:p>
        </p:txBody>
      </p:sp>
      <p:sp>
        <p:nvSpPr>
          <p:cNvPr id="3" name="object 3"/>
          <p:cNvSpPr txBox="1">
            <a:spLocks noGrp="1"/>
          </p:cNvSpPr>
          <p:nvPr>
            <p:ph type="title"/>
          </p:nvPr>
        </p:nvSpPr>
        <p:spPr>
          <a:xfrm>
            <a:off x="630936" y="252984"/>
            <a:ext cx="11212195" cy="57644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lang="en-IN" spc="-45" dirty="0"/>
              <a:t>RE</a:t>
            </a:r>
            <a:r>
              <a:rPr spc="-10" dirty="0"/>
              <a:t>SU</a:t>
            </a:r>
            <a:r>
              <a:rPr lang="en-IN" spc="-10" dirty="0"/>
              <a:t>LT AND DISCUSSION</a:t>
            </a:r>
            <a:endParaRPr spc="-10" dirty="0"/>
          </a:p>
        </p:txBody>
      </p:sp>
      <p:sp>
        <p:nvSpPr>
          <p:cNvPr id="14" name="TextBox 13">
            <a:extLst>
              <a:ext uri="{FF2B5EF4-FFF2-40B4-BE49-F238E27FC236}">
                <a16:creationId xmlns:a16="http://schemas.microsoft.com/office/drawing/2014/main" id="{EE60C2D6-A43A-280C-BB0E-7A7A1DC4AA3E}"/>
              </a:ext>
            </a:extLst>
          </p:cNvPr>
          <p:cNvSpPr txBox="1"/>
          <p:nvPr/>
        </p:nvSpPr>
        <p:spPr>
          <a:xfrm>
            <a:off x="630937" y="827115"/>
            <a:ext cx="11212194" cy="3730317"/>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Evaluation Metrices</a:t>
            </a:r>
          </a:p>
          <a:p>
            <a:pPr marL="342900" indent="-342900">
              <a:lnSpc>
                <a:spcPct val="150000"/>
              </a:lnSpc>
              <a:buClr>
                <a:srgbClr val="689C9A"/>
              </a:buCl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 Accuracy is the ratio of correct predictions to the total predictions(The overall accuracy)</a:t>
            </a:r>
          </a:p>
          <a:p>
            <a:pPr marL="342900" indent="-342900">
              <a:lnSpc>
                <a:spcPct val="150000"/>
              </a:lnSpc>
              <a:buClr>
                <a:srgbClr val="689C9A"/>
              </a:buCl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Precision</a:t>
            </a:r>
            <a:r>
              <a:rPr lang="en-US" sz="2000" dirty="0">
                <a:latin typeface="Times New Roman" panose="02020603050405020304" pitchFamily="18" charset="0"/>
                <a:cs typeface="Times New Roman" panose="02020603050405020304" pitchFamily="18" charset="0"/>
              </a:rPr>
              <a:t> : Precision is the ratio of correctly predicted positive observations to the total predicted positives(For Example: For every 100 predictions of class 2, only ~19 are correct.)</a:t>
            </a:r>
          </a:p>
          <a:p>
            <a:pPr marL="342900" indent="-342900">
              <a:lnSpc>
                <a:spcPct val="150000"/>
              </a:lnSpc>
              <a:buClr>
                <a:srgbClr val="689C9A"/>
              </a:buCl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Recall</a:t>
            </a:r>
            <a:r>
              <a:rPr lang="en-US" sz="2000" dirty="0">
                <a:latin typeface="Times New Roman" panose="02020603050405020304" pitchFamily="18" charset="0"/>
                <a:cs typeface="Times New Roman" panose="02020603050405020304" pitchFamily="18" charset="0"/>
              </a:rPr>
              <a:t> : Recall is the ratio of correctly predicted positive observations to the actual positives(For Example: While the model predicts class 2 often, it still misses many actual class 2 instances)</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Clr>
                <a:srgbClr val="689C9A"/>
              </a:buCl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F1-Score</a:t>
            </a:r>
            <a:r>
              <a:rPr lang="en-US" sz="2000" dirty="0">
                <a:latin typeface="Times New Roman" panose="02020603050405020304" pitchFamily="18" charset="0"/>
                <a:cs typeface="Times New Roman" panose="02020603050405020304" pitchFamily="18" charset="0"/>
              </a:rPr>
              <a:t> : The F1-score is the harmonic mean of precision and recall, balancing both metrics(balance between precision and recall.)</a:t>
            </a:r>
          </a:p>
        </p:txBody>
      </p:sp>
    </p:spTree>
    <p:extLst>
      <p:ext uri="{BB962C8B-B14F-4D97-AF65-F5344CB8AC3E}">
        <p14:creationId xmlns:p14="http://schemas.microsoft.com/office/powerpoint/2010/main" val="3797923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19</a:t>
            </a:fld>
            <a:endParaRPr spc="-50" dirty="0"/>
          </a:p>
        </p:txBody>
      </p:sp>
      <p:sp>
        <p:nvSpPr>
          <p:cNvPr id="3" name="object 3"/>
          <p:cNvSpPr txBox="1">
            <a:spLocks noGrp="1"/>
          </p:cNvSpPr>
          <p:nvPr>
            <p:ph type="title"/>
          </p:nvPr>
        </p:nvSpPr>
        <p:spPr>
          <a:xfrm>
            <a:off x="630936" y="252984"/>
            <a:ext cx="11212195" cy="57644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lang="en-IN" spc="-45" dirty="0"/>
              <a:t>RE</a:t>
            </a:r>
            <a:r>
              <a:rPr spc="-10" dirty="0"/>
              <a:t>SU</a:t>
            </a:r>
            <a:r>
              <a:rPr lang="en-IN" spc="-10" dirty="0"/>
              <a:t>LT AND DISCUSSION</a:t>
            </a:r>
            <a:endParaRPr spc="-10" dirty="0"/>
          </a:p>
        </p:txBody>
      </p:sp>
      <p:sp>
        <p:nvSpPr>
          <p:cNvPr id="14" name="TextBox 13">
            <a:extLst>
              <a:ext uri="{FF2B5EF4-FFF2-40B4-BE49-F238E27FC236}">
                <a16:creationId xmlns:a16="http://schemas.microsoft.com/office/drawing/2014/main" id="{EE60C2D6-A43A-280C-BB0E-7A7A1DC4AA3E}"/>
              </a:ext>
            </a:extLst>
          </p:cNvPr>
          <p:cNvSpPr txBox="1"/>
          <p:nvPr/>
        </p:nvSpPr>
        <p:spPr>
          <a:xfrm>
            <a:off x="630937" y="827115"/>
            <a:ext cx="11212194" cy="498663"/>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Evaluation Metrices</a:t>
            </a:r>
          </a:p>
        </p:txBody>
      </p:sp>
      <p:graphicFrame>
        <p:nvGraphicFramePr>
          <p:cNvPr id="11" name="Table 10">
            <a:extLst>
              <a:ext uri="{FF2B5EF4-FFF2-40B4-BE49-F238E27FC236}">
                <a16:creationId xmlns:a16="http://schemas.microsoft.com/office/drawing/2014/main" id="{349DDBF9-C458-9D3A-2CF5-2B93FCC4A5EE}"/>
              </a:ext>
            </a:extLst>
          </p:cNvPr>
          <p:cNvGraphicFramePr>
            <a:graphicFrameLocks noGrp="1"/>
          </p:cNvGraphicFramePr>
          <p:nvPr>
            <p:extLst>
              <p:ext uri="{D42A27DB-BD31-4B8C-83A1-F6EECF244321}">
                <p14:modId xmlns:p14="http://schemas.microsoft.com/office/powerpoint/2010/main" val="4065703305"/>
              </p:ext>
            </p:extLst>
          </p:nvPr>
        </p:nvGraphicFramePr>
        <p:xfrm>
          <a:off x="1819723" y="1507222"/>
          <a:ext cx="8834620" cy="3901176"/>
        </p:xfrm>
        <a:graphic>
          <a:graphicData uri="http://schemas.openxmlformats.org/drawingml/2006/table">
            <a:tbl>
              <a:tblPr firstRow="1" bandRow="1"/>
              <a:tblGrid>
                <a:gridCol w="1766924">
                  <a:extLst>
                    <a:ext uri="{9D8B030D-6E8A-4147-A177-3AD203B41FA5}">
                      <a16:colId xmlns:a16="http://schemas.microsoft.com/office/drawing/2014/main" val="341318004"/>
                    </a:ext>
                  </a:extLst>
                </a:gridCol>
                <a:gridCol w="1766924">
                  <a:extLst>
                    <a:ext uri="{9D8B030D-6E8A-4147-A177-3AD203B41FA5}">
                      <a16:colId xmlns:a16="http://schemas.microsoft.com/office/drawing/2014/main" val="1990408690"/>
                    </a:ext>
                  </a:extLst>
                </a:gridCol>
                <a:gridCol w="1766924">
                  <a:extLst>
                    <a:ext uri="{9D8B030D-6E8A-4147-A177-3AD203B41FA5}">
                      <a16:colId xmlns:a16="http://schemas.microsoft.com/office/drawing/2014/main" val="4270512284"/>
                    </a:ext>
                  </a:extLst>
                </a:gridCol>
                <a:gridCol w="1766924">
                  <a:extLst>
                    <a:ext uri="{9D8B030D-6E8A-4147-A177-3AD203B41FA5}">
                      <a16:colId xmlns:a16="http://schemas.microsoft.com/office/drawing/2014/main" val="1276237116"/>
                    </a:ext>
                  </a:extLst>
                </a:gridCol>
                <a:gridCol w="1766924">
                  <a:extLst>
                    <a:ext uri="{9D8B030D-6E8A-4147-A177-3AD203B41FA5}">
                      <a16:colId xmlns:a16="http://schemas.microsoft.com/office/drawing/2014/main" val="2255277016"/>
                    </a:ext>
                  </a:extLst>
                </a:gridCol>
              </a:tblGrid>
              <a:tr h="650196">
                <a:tc>
                  <a:txBody>
                    <a:bodyPr/>
                    <a:lstStyle>
                      <a:lvl1pPr marL="0">
                        <a:defRPr b="1">
                          <a:solidFill>
                            <a:schemeClr val="lt1"/>
                          </a:solidFill>
                          <a:latin typeface="Tw Cen MT" panose="020B0602020104020603"/>
                        </a:defRPr>
                      </a:lvl1pPr>
                      <a:lvl2pPr marL="457200">
                        <a:defRPr b="1">
                          <a:solidFill>
                            <a:schemeClr val="lt1"/>
                          </a:solidFill>
                          <a:latin typeface="Tw Cen MT" panose="020B0602020104020603"/>
                        </a:defRPr>
                      </a:lvl2pPr>
                      <a:lvl3pPr marL="914400">
                        <a:defRPr b="1">
                          <a:solidFill>
                            <a:schemeClr val="lt1"/>
                          </a:solidFill>
                          <a:latin typeface="Tw Cen MT" panose="020B0602020104020603"/>
                        </a:defRPr>
                      </a:lvl3pPr>
                      <a:lvl4pPr marL="1371600">
                        <a:defRPr b="1">
                          <a:solidFill>
                            <a:schemeClr val="lt1"/>
                          </a:solidFill>
                          <a:latin typeface="Tw Cen MT" panose="020B0602020104020603"/>
                        </a:defRPr>
                      </a:lvl4pPr>
                      <a:lvl5pPr marL="1828800">
                        <a:defRPr b="1">
                          <a:solidFill>
                            <a:schemeClr val="lt1"/>
                          </a:solidFill>
                          <a:latin typeface="Tw Cen MT" panose="020B0602020104020603"/>
                        </a:defRPr>
                      </a:lvl5pPr>
                      <a:lvl6pPr marL="2286000">
                        <a:defRPr b="1">
                          <a:solidFill>
                            <a:schemeClr val="lt1"/>
                          </a:solidFill>
                          <a:latin typeface="Tw Cen MT" panose="020B0602020104020603"/>
                        </a:defRPr>
                      </a:lvl6pPr>
                      <a:lvl7pPr marL="2743200">
                        <a:defRPr b="1">
                          <a:solidFill>
                            <a:schemeClr val="lt1"/>
                          </a:solidFill>
                          <a:latin typeface="Tw Cen MT" panose="020B0602020104020603"/>
                        </a:defRPr>
                      </a:lvl7pPr>
                      <a:lvl8pPr marL="3200400">
                        <a:defRPr b="1">
                          <a:solidFill>
                            <a:schemeClr val="lt1"/>
                          </a:solidFill>
                          <a:latin typeface="Tw Cen MT" panose="020B0602020104020603"/>
                        </a:defRPr>
                      </a:lvl8pPr>
                      <a:lvl9pPr marL="3657600">
                        <a:defRPr b="1">
                          <a:solidFill>
                            <a:schemeClr val="lt1"/>
                          </a:solidFill>
                          <a:latin typeface="Tw Cen MT" panose="020B0602020104020603"/>
                        </a:defRPr>
                      </a:lvl9pPr>
                    </a:lstStyle>
                    <a:p>
                      <a:r>
                        <a:rPr lang="en-IN" dirty="0"/>
                        <a:t>ALGORITHMS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CBEBD"/>
                    </a:solidFill>
                  </a:tcPr>
                </a:tc>
                <a:tc>
                  <a:txBody>
                    <a:bodyPr/>
                    <a:lstStyle>
                      <a:lvl1pPr marL="0">
                        <a:defRPr b="1">
                          <a:solidFill>
                            <a:schemeClr val="lt1"/>
                          </a:solidFill>
                          <a:latin typeface="Tw Cen MT" panose="020B0602020104020603"/>
                        </a:defRPr>
                      </a:lvl1pPr>
                      <a:lvl2pPr marL="457200">
                        <a:defRPr b="1">
                          <a:solidFill>
                            <a:schemeClr val="lt1"/>
                          </a:solidFill>
                          <a:latin typeface="Tw Cen MT" panose="020B0602020104020603"/>
                        </a:defRPr>
                      </a:lvl2pPr>
                      <a:lvl3pPr marL="914400">
                        <a:defRPr b="1">
                          <a:solidFill>
                            <a:schemeClr val="lt1"/>
                          </a:solidFill>
                          <a:latin typeface="Tw Cen MT" panose="020B0602020104020603"/>
                        </a:defRPr>
                      </a:lvl3pPr>
                      <a:lvl4pPr marL="1371600">
                        <a:defRPr b="1">
                          <a:solidFill>
                            <a:schemeClr val="lt1"/>
                          </a:solidFill>
                          <a:latin typeface="Tw Cen MT" panose="020B0602020104020603"/>
                        </a:defRPr>
                      </a:lvl4pPr>
                      <a:lvl5pPr marL="1828800">
                        <a:defRPr b="1">
                          <a:solidFill>
                            <a:schemeClr val="lt1"/>
                          </a:solidFill>
                          <a:latin typeface="Tw Cen MT" panose="020B0602020104020603"/>
                        </a:defRPr>
                      </a:lvl5pPr>
                      <a:lvl6pPr marL="2286000">
                        <a:defRPr b="1">
                          <a:solidFill>
                            <a:schemeClr val="lt1"/>
                          </a:solidFill>
                          <a:latin typeface="Tw Cen MT" panose="020B0602020104020603"/>
                        </a:defRPr>
                      </a:lvl6pPr>
                      <a:lvl7pPr marL="2743200">
                        <a:defRPr b="1">
                          <a:solidFill>
                            <a:schemeClr val="lt1"/>
                          </a:solidFill>
                          <a:latin typeface="Tw Cen MT" panose="020B0602020104020603"/>
                        </a:defRPr>
                      </a:lvl7pPr>
                      <a:lvl8pPr marL="3200400">
                        <a:defRPr b="1">
                          <a:solidFill>
                            <a:schemeClr val="lt1"/>
                          </a:solidFill>
                          <a:latin typeface="Tw Cen MT" panose="020B0602020104020603"/>
                        </a:defRPr>
                      </a:lvl8pPr>
                      <a:lvl9pPr marL="3657600">
                        <a:defRPr b="1">
                          <a:solidFill>
                            <a:schemeClr val="lt1"/>
                          </a:solidFill>
                          <a:latin typeface="Tw Cen MT" panose="020B0602020104020603"/>
                        </a:defRPr>
                      </a:lvl9pPr>
                    </a:lstStyle>
                    <a:p>
                      <a:r>
                        <a:rPr lang="en-IN" dirty="0"/>
                        <a:t>ACCURACY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CBEBD"/>
                    </a:solidFill>
                  </a:tcPr>
                </a:tc>
                <a:tc>
                  <a:txBody>
                    <a:bodyPr/>
                    <a:lstStyle>
                      <a:lvl1pPr marL="0">
                        <a:defRPr b="1">
                          <a:solidFill>
                            <a:schemeClr val="lt1"/>
                          </a:solidFill>
                          <a:latin typeface="Tw Cen MT" panose="020B0602020104020603"/>
                        </a:defRPr>
                      </a:lvl1pPr>
                      <a:lvl2pPr marL="457200">
                        <a:defRPr b="1">
                          <a:solidFill>
                            <a:schemeClr val="lt1"/>
                          </a:solidFill>
                          <a:latin typeface="Tw Cen MT" panose="020B0602020104020603"/>
                        </a:defRPr>
                      </a:lvl2pPr>
                      <a:lvl3pPr marL="914400">
                        <a:defRPr b="1">
                          <a:solidFill>
                            <a:schemeClr val="lt1"/>
                          </a:solidFill>
                          <a:latin typeface="Tw Cen MT" panose="020B0602020104020603"/>
                        </a:defRPr>
                      </a:lvl3pPr>
                      <a:lvl4pPr marL="1371600">
                        <a:defRPr b="1">
                          <a:solidFill>
                            <a:schemeClr val="lt1"/>
                          </a:solidFill>
                          <a:latin typeface="Tw Cen MT" panose="020B0602020104020603"/>
                        </a:defRPr>
                      </a:lvl4pPr>
                      <a:lvl5pPr marL="1828800">
                        <a:defRPr b="1">
                          <a:solidFill>
                            <a:schemeClr val="lt1"/>
                          </a:solidFill>
                          <a:latin typeface="Tw Cen MT" panose="020B0602020104020603"/>
                        </a:defRPr>
                      </a:lvl5pPr>
                      <a:lvl6pPr marL="2286000">
                        <a:defRPr b="1">
                          <a:solidFill>
                            <a:schemeClr val="lt1"/>
                          </a:solidFill>
                          <a:latin typeface="Tw Cen MT" panose="020B0602020104020603"/>
                        </a:defRPr>
                      </a:lvl6pPr>
                      <a:lvl7pPr marL="2743200">
                        <a:defRPr b="1">
                          <a:solidFill>
                            <a:schemeClr val="lt1"/>
                          </a:solidFill>
                          <a:latin typeface="Tw Cen MT" panose="020B0602020104020603"/>
                        </a:defRPr>
                      </a:lvl7pPr>
                      <a:lvl8pPr marL="3200400">
                        <a:defRPr b="1">
                          <a:solidFill>
                            <a:schemeClr val="lt1"/>
                          </a:solidFill>
                          <a:latin typeface="Tw Cen MT" panose="020B0602020104020603"/>
                        </a:defRPr>
                      </a:lvl8pPr>
                      <a:lvl9pPr marL="3657600">
                        <a:defRPr b="1">
                          <a:solidFill>
                            <a:schemeClr val="lt1"/>
                          </a:solidFill>
                          <a:latin typeface="Tw Cen MT" panose="020B0602020104020603"/>
                        </a:defRPr>
                      </a:lvl9pPr>
                    </a:lstStyle>
                    <a:p>
                      <a:r>
                        <a:rPr lang="en-IN" dirty="0"/>
                        <a:t>PRECISION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CBEBD"/>
                    </a:solidFill>
                  </a:tcPr>
                </a:tc>
                <a:tc>
                  <a:txBody>
                    <a:bodyPr/>
                    <a:lstStyle>
                      <a:lvl1pPr marL="0">
                        <a:defRPr b="1">
                          <a:solidFill>
                            <a:schemeClr val="lt1"/>
                          </a:solidFill>
                          <a:latin typeface="Tw Cen MT" panose="020B0602020104020603"/>
                        </a:defRPr>
                      </a:lvl1pPr>
                      <a:lvl2pPr marL="457200">
                        <a:defRPr b="1">
                          <a:solidFill>
                            <a:schemeClr val="lt1"/>
                          </a:solidFill>
                          <a:latin typeface="Tw Cen MT" panose="020B0602020104020603"/>
                        </a:defRPr>
                      </a:lvl2pPr>
                      <a:lvl3pPr marL="914400">
                        <a:defRPr b="1">
                          <a:solidFill>
                            <a:schemeClr val="lt1"/>
                          </a:solidFill>
                          <a:latin typeface="Tw Cen MT" panose="020B0602020104020603"/>
                        </a:defRPr>
                      </a:lvl3pPr>
                      <a:lvl4pPr marL="1371600">
                        <a:defRPr b="1">
                          <a:solidFill>
                            <a:schemeClr val="lt1"/>
                          </a:solidFill>
                          <a:latin typeface="Tw Cen MT" panose="020B0602020104020603"/>
                        </a:defRPr>
                      </a:lvl4pPr>
                      <a:lvl5pPr marL="1828800">
                        <a:defRPr b="1">
                          <a:solidFill>
                            <a:schemeClr val="lt1"/>
                          </a:solidFill>
                          <a:latin typeface="Tw Cen MT" panose="020B0602020104020603"/>
                        </a:defRPr>
                      </a:lvl5pPr>
                      <a:lvl6pPr marL="2286000">
                        <a:defRPr b="1">
                          <a:solidFill>
                            <a:schemeClr val="lt1"/>
                          </a:solidFill>
                          <a:latin typeface="Tw Cen MT" panose="020B0602020104020603"/>
                        </a:defRPr>
                      </a:lvl6pPr>
                      <a:lvl7pPr marL="2743200">
                        <a:defRPr b="1">
                          <a:solidFill>
                            <a:schemeClr val="lt1"/>
                          </a:solidFill>
                          <a:latin typeface="Tw Cen MT" panose="020B0602020104020603"/>
                        </a:defRPr>
                      </a:lvl7pPr>
                      <a:lvl8pPr marL="3200400">
                        <a:defRPr b="1">
                          <a:solidFill>
                            <a:schemeClr val="lt1"/>
                          </a:solidFill>
                          <a:latin typeface="Tw Cen MT" panose="020B0602020104020603"/>
                        </a:defRPr>
                      </a:lvl8pPr>
                      <a:lvl9pPr marL="3657600">
                        <a:defRPr b="1">
                          <a:solidFill>
                            <a:schemeClr val="lt1"/>
                          </a:solidFill>
                          <a:latin typeface="Tw Cen MT" panose="020B0602020104020603"/>
                        </a:defRPr>
                      </a:lvl9pPr>
                    </a:lstStyle>
                    <a:p>
                      <a:r>
                        <a:rPr lang="en-IN" dirty="0"/>
                        <a:t>RECALL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CBEBD"/>
                    </a:solidFill>
                  </a:tcPr>
                </a:tc>
                <a:tc>
                  <a:txBody>
                    <a:bodyPr/>
                    <a:lstStyle>
                      <a:lvl1pPr marL="0">
                        <a:defRPr b="1">
                          <a:solidFill>
                            <a:schemeClr val="lt1"/>
                          </a:solidFill>
                          <a:latin typeface="Tw Cen MT" panose="020B0602020104020603"/>
                        </a:defRPr>
                      </a:lvl1pPr>
                      <a:lvl2pPr marL="457200">
                        <a:defRPr b="1">
                          <a:solidFill>
                            <a:schemeClr val="lt1"/>
                          </a:solidFill>
                          <a:latin typeface="Tw Cen MT" panose="020B0602020104020603"/>
                        </a:defRPr>
                      </a:lvl2pPr>
                      <a:lvl3pPr marL="914400">
                        <a:defRPr b="1">
                          <a:solidFill>
                            <a:schemeClr val="lt1"/>
                          </a:solidFill>
                          <a:latin typeface="Tw Cen MT" panose="020B0602020104020603"/>
                        </a:defRPr>
                      </a:lvl3pPr>
                      <a:lvl4pPr marL="1371600">
                        <a:defRPr b="1">
                          <a:solidFill>
                            <a:schemeClr val="lt1"/>
                          </a:solidFill>
                          <a:latin typeface="Tw Cen MT" panose="020B0602020104020603"/>
                        </a:defRPr>
                      </a:lvl4pPr>
                      <a:lvl5pPr marL="1828800">
                        <a:defRPr b="1">
                          <a:solidFill>
                            <a:schemeClr val="lt1"/>
                          </a:solidFill>
                          <a:latin typeface="Tw Cen MT" panose="020B0602020104020603"/>
                        </a:defRPr>
                      </a:lvl5pPr>
                      <a:lvl6pPr marL="2286000">
                        <a:defRPr b="1">
                          <a:solidFill>
                            <a:schemeClr val="lt1"/>
                          </a:solidFill>
                          <a:latin typeface="Tw Cen MT" panose="020B0602020104020603"/>
                        </a:defRPr>
                      </a:lvl6pPr>
                      <a:lvl7pPr marL="2743200">
                        <a:defRPr b="1">
                          <a:solidFill>
                            <a:schemeClr val="lt1"/>
                          </a:solidFill>
                          <a:latin typeface="Tw Cen MT" panose="020B0602020104020603"/>
                        </a:defRPr>
                      </a:lvl7pPr>
                      <a:lvl8pPr marL="3200400">
                        <a:defRPr b="1">
                          <a:solidFill>
                            <a:schemeClr val="lt1"/>
                          </a:solidFill>
                          <a:latin typeface="Tw Cen MT" panose="020B0602020104020603"/>
                        </a:defRPr>
                      </a:lvl8pPr>
                      <a:lvl9pPr marL="3657600">
                        <a:defRPr b="1">
                          <a:solidFill>
                            <a:schemeClr val="lt1"/>
                          </a:solidFill>
                          <a:latin typeface="Tw Cen MT" panose="020B0602020104020603"/>
                        </a:defRPr>
                      </a:lvl9pPr>
                    </a:lstStyle>
                    <a:p>
                      <a:r>
                        <a:rPr lang="en-IN" dirty="0"/>
                        <a:t>F1-SCORE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9CBEBD"/>
                    </a:solidFill>
                  </a:tcPr>
                </a:tc>
                <a:extLst>
                  <a:ext uri="{0D108BD9-81ED-4DB2-BD59-A6C34878D82A}">
                    <a16:rowId xmlns:a16="http://schemas.microsoft.com/office/drawing/2014/main" val="1831879895"/>
                  </a:ext>
                </a:extLst>
              </a:tr>
              <a:tr h="650196">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VQC</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96.40%</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0.942</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0.992</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0.966</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extLst>
                  <a:ext uri="{0D108BD9-81ED-4DB2-BD59-A6C34878D82A}">
                    <a16:rowId xmlns:a16="http://schemas.microsoft.com/office/drawing/2014/main" val="1524707273"/>
                  </a:ext>
                </a:extLst>
              </a:tr>
              <a:tr h="650196">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QNN</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52.80%</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0.528</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1.000</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0.691</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extLst>
                  <a:ext uri="{0D108BD9-81ED-4DB2-BD59-A6C34878D82A}">
                    <a16:rowId xmlns:a16="http://schemas.microsoft.com/office/drawing/2014/main" val="3604477162"/>
                  </a:ext>
                </a:extLst>
              </a:tr>
              <a:tr h="650196">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QCNN</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96.40%</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0.942</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0.992</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0.966</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extLst>
                  <a:ext uri="{0D108BD9-81ED-4DB2-BD59-A6C34878D82A}">
                    <a16:rowId xmlns:a16="http://schemas.microsoft.com/office/drawing/2014/main" val="2249633386"/>
                  </a:ext>
                </a:extLst>
              </a:tr>
              <a:tr h="650196">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QSVM</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90.00%</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0.928</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0.928</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0.928</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20000"/>
                      </a:srgbClr>
                    </a:solidFill>
                  </a:tcPr>
                </a:tc>
                <a:extLst>
                  <a:ext uri="{0D108BD9-81ED-4DB2-BD59-A6C34878D82A}">
                    <a16:rowId xmlns:a16="http://schemas.microsoft.com/office/drawing/2014/main" val="1827983697"/>
                  </a:ext>
                </a:extLst>
              </a:tr>
              <a:tr h="650196">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VQFE</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57.60%</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0.591</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0.636</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tc>
                  <a:txBody>
                    <a:bodyPr/>
                    <a:lstStyle>
                      <a:lvl1pPr marL="0">
                        <a:defRPr>
                          <a:solidFill>
                            <a:schemeClr val="dk1"/>
                          </a:solidFill>
                          <a:latin typeface="Tw Cen MT" panose="020B0602020104020603"/>
                        </a:defRPr>
                      </a:lvl1pPr>
                      <a:lvl2pPr marL="457200">
                        <a:defRPr>
                          <a:solidFill>
                            <a:schemeClr val="dk1"/>
                          </a:solidFill>
                          <a:latin typeface="Tw Cen MT" panose="020B0602020104020603"/>
                        </a:defRPr>
                      </a:lvl2pPr>
                      <a:lvl3pPr marL="914400">
                        <a:defRPr>
                          <a:solidFill>
                            <a:schemeClr val="dk1"/>
                          </a:solidFill>
                          <a:latin typeface="Tw Cen MT" panose="020B0602020104020603"/>
                        </a:defRPr>
                      </a:lvl3pPr>
                      <a:lvl4pPr marL="1371600">
                        <a:defRPr>
                          <a:solidFill>
                            <a:schemeClr val="dk1"/>
                          </a:solidFill>
                          <a:latin typeface="Tw Cen MT" panose="020B0602020104020603"/>
                        </a:defRPr>
                      </a:lvl4pPr>
                      <a:lvl5pPr marL="1828800">
                        <a:defRPr>
                          <a:solidFill>
                            <a:schemeClr val="dk1"/>
                          </a:solidFill>
                          <a:latin typeface="Tw Cen MT" panose="020B0602020104020603"/>
                        </a:defRPr>
                      </a:lvl5pPr>
                      <a:lvl6pPr marL="2286000">
                        <a:defRPr>
                          <a:solidFill>
                            <a:schemeClr val="dk1"/>
                          </a:solidFill>
                          <a:latin typeface="Tw Cen MT" panose="020B0602020104020603"/>
                        </a:defRPr>
                      </a:lvl6pPr>
                      <a:lvl7pPr marL="2743200">
                        <a:defRPr>
                          <a:solidFill>
                            <a:schemeClr val="dk1"/>
                          </a:solidFill>
                          <a:latin typeface="Tw Cen MT" panose="020B0602020104020603"/>
                        </a:defRPr>
                      </a:lvl7pPr>
                      <a:lvl8pPr marL="3200400">
                        <a:defRPr>
                          <a:solidFill>
                            <a:schemeClr val="dk1"/>
                          </a:solidFill>
                          <a:latin typeface="Tw Cen MT" panose="020B0602020104020603"/>
                        </a:defRPr>
                      </a:lvl8pPr>
                      <a:lvl9pPr marL="3657600">
                        <a:defRPr>
                          <a:solidFill>
                            <a:schemeClr val="dk1"/>
                          </a:solidFill>
                          <a:latin typeface="Tw Cen MT" panose="020B0602020104020603"/>
                        </a:defRPr>
                      </a:lvl9pPr>
                    </a:lstStyle>
                    <a:p>
                      <a:r>
                        <a:rPr lang="en-IN" dirty="0"/>
                        <a:t>0.613</a:t>
                      </a:r>
                      <a:endParaRPr lang="en-IN" dirty="0">
                        <a:latin typeface="Times New Roman" panose="02020603050405020304" pitchFamily="18" charset="0"/>
                        <a:cs typeface="Times New Roman" panose="02020603050405020304" pitchFamily="18"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CBEBD">
                        <a:tint val="40000"/>
                      </a:srgbClr>
                    </a:solidFill>
                  </a:tcPr>
                </a:tc>
                <a:extLst>
                  <a:ext uri="{0D108BD9-81ED-4DB2-BD59-A6C34878D82A}">
                    <a16:rowId xmlns:a16="http://schemas.microsoft.com/office/drawing/2014/main" val="318328065"/>
                  </a:ext>
                </a:extLst>
              </a:tr>
            </a:tbl>
          </a:graphicData>
        </a:graphic>
      </p:graphicFrame>
    </p:spTree>
    <p:extLst>
      <p:ext uri="{BB962C8B-B14F-4D97-AF65-F5344CB8AC3E}">
        <p14:creationId xmlns:p14="http://schemas.microsoft.com/office/powerpoint/2010/main" val="778725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In this study, we evaluated five variational quantum machine learning algorithms for binary image classification (MNIST digits 2 vs 7) on a simulated NISQ environment. Each algorithm employs a 4-qubit quantum circuit with PCA-based dimensionality reduction (784 → 4 principal components). The evaluation was based on four key metrics: </a:t>
            </a: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Accuracy</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a:t>
            </a: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Precision</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a:t>
            </a: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Recall</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and </a:t>
            </a: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F1-Score</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The models analyzed include Variational Quantum Classifier (VQC), Quantum Neural Network (QNN), Quantum Convolutional Neural Network (QCNN), Quantum Support Vector Machine (QSVM), and Variational Quantum Feature Embedding (VQFE).</a:t>
            </a:r>
          </a:p>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Best Performing Models</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Both VQC and QCNN achieve the highest accuracy (96.40%), precision (0.942), recall (0.992), and F1-score (0.966). Notably, QCNN achieves this with only 6 trainable parameters compared to VQC's 36, making it the most parameter-efficient model and the most practical candidate for real NISQ hardware deployment.</a:t>
            </a: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RESULT AND DISCUSSION</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20</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6297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QSVM as the Second Best</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The QSVM model follows with an accuracy of 90.00% and a balanced F1-score of 0.928, making it the third most effective algorithm. Its kernel-based approach requires no iterative circuit training, making it immune to barren plateau issues and a robust alternative when training stability is a priority.</a:t>
            </a:r>
          </a:p>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Under-performing Models</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The QNN model (52.80% accuracy) converges to a near-trivial solution with perfect recall (1.000) but poor precision (0.528), indicating it classifies almost all samples as a single class. Similarly, VQFE achieves only 57.60% accuracy, suggesting that simpler entanglement layers (</a:t>
            </a:r>
            <a:r>
              <a:rPr kumimoji="0" lang="en-US" sz="2000" b="0" i="0" u="none" strike="noStrike" kern="1200" cap="none" spc="0" normalizeH="0" baseline="0" noProof="0" dirty="0" err="1">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BasicEntanglerLayers</a:t>
            </a:r>
            <a:r>
              <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 and joint encoding-classification optimization struggle in low-qubit settings. This demonstrates that circuit architecture design is more critical than circuit depth for quantum classification performance.</a:t>
            </a: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RESULT AND DISCUSSION</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21</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403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50" dirty="0"/>
              <a:t>22</a:t>
            </a:fld>
            <a:endParaRPr spc="-50" dirty="0"/>
          </a:p>
        </p:txBody>
      </p:sp>
      <p:sp>
        <p:nvSpPr>
          <p:cNvPr id="2" name="object 2"/>
          <p:cNvSpPr txBox="1"/>
          <p:nvPr/>
        </p:nvSpPr>
        <p:spPr>
          <a:xfrm>
            <a:off x="630936" y="1016863"/>
            <a:ext cx="11141075" cy="320601"/>
          </a:xfrm>
          <a:prstGeom prst="rect">
            <a:avLst/>
          </a:prstGeom>
        </p:spPr>
        <p:txBody>
          <a:bodyPr vert="horz" wrap="square" lIns="0" tIns="12700" rIns="0" bIns="0" rtlCol="0">
            <a:spAutoFit/>
          </a:bodyPr>
          <a:lstStyle/>
          <a:p>
            <a:pPr marL="20320">
              <a:lnSpc>
                <a:spcPct val="100000"/>
              </a:lnSpc>
              <a:spcBef>
                <a:spcPts val="100"/>
              </a:spcBef>
              <a:buClr>
                <a:srgbClr val="C00000"/>
              </a:buClr>
              <a:tabLst>
                <a:tab pos="318770" algn="l"/>
              </a:tabLst>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630936" y="252984"/>
            <a:ext cx="11212195" cy="576440"/>
          </a:xfrm>
          <a:prstGeom prst="rect">
            <a:avLst/>
          </a:prstGeom>
          <a:solidFill>
            <a:srgbClr val="689C9A"/>
          </a:solidFill>
          <a:ln w="15872">
            <a:solidFill>
              <a:srgbClr val="45432F"/>
            </a:solidFill>
          </a:ln>
        </p:spPr>
        <p:txBody>
          <a:bodyPr vert="horz" wrap="square" lIns="0" tIns="189865" rIns="0" bIns="0" rtlCol="0">
            <a:spAutoFit/>
          </a:bodyPr>
          <a:lstStyle/>
          <a:p>
            <a:pPr algn="ctr">
              <a:lnSpc>
                <a:spcPct val="100000"/>
              </a:lnSpc>
              <a:spcBef>
                <a:spcPts val="1495"/>
              </a:spcBef>
            </a:pPr>
            <a:r>
              <a:rPr lang="en-IN" spc="-45" dirty="0"/>
              <a:t>CONCLUSION</a:t>
            </a:r>
            <a:endParaRPr spc="-10" dirty="0"/>
          </a:p>
        </p:txBody>
      </p:sp>
      <p:sp>
        <p:nvSpPr>
          <p:cNvPr id="6" name="TextBox 5">
            <a:extLst>
              <a:ext uri="{FF2B5EF4-FFF2-40B4-BE49-F238E27FC236}">
                <a16:creationId xmlns:a16="http://schemas.microsoft.com/office/drawing/2014/main" id="{344EC04B-CDC4-81AA-2E78-227621C254A1}"/>
              </a:ext>
            </a:extLst>
          </p:cNvPr>
          <p:cNvSpPr txBox="1"/>
          <p:nvPr/>
        </p:nvSpPr>
        <p:spPr>
          <a:xfrm>
            <a:off x="626318" y="1177163"/>
            <a:ext cx="11212194" cy="5016758"/>
          </a:xfrm>
          <a:prstGeom prst="rect">
            <a:avLst/>
          </a:prstGeom>
          <a:noFill/>
        </p:spPr>
        <p:txBody>
          <a:bodyPr wrap="square">
            <a:spAutoFit/>
          </a:bodyPr>
          <a:lstStyle/>
          <a:p>
            <a:pPr algn="l"/>
            <a:r>
              <a:rPr lang="en-US" sz="2000" dirty="0">
                <a:latin typeface="Times New Roman" panose="02020603050405020304" pitchFamily="18" charset="0"/>
                <a:cs typeface="Times New Roman" panose="02020603050405020304" pitchFamily="18" charset="0"/>
              </a:rPr>
              <a:t>As quantum computing transitions from theoretical research to practical applications, the integration of variational quantum algorithms with classical preprocessing techniques like PCA could pave the way for more efficient and hardware-aware quantum classification solutions on near-term NISQ devices.</a:t>
            </a:r>
          </a:p>
          <a:p>
            <a:pPr algn="l"/>
            <a:r>
              <a:rPr lang="en-US" sz="2000" dirty="0">
                <a:latin typeface="Times New Roman" panose="02020603050405020304" pitchFamily="18" charset="0"/>
                <a:cs typeface="Times New Roman" panose="02020603050405020304" pitchFamily="18" charset="0"/>
              </a:rPr>
              <a:t>NISQ-era quantum computing presents both promising opportunities and inherent challenges. Our evaluation demonstrates that quantum circuit architectures such as VQC and QCNN can achieve classification accuracy as high as 96.40%, while operating within the strict constraints of limited qubits and shallow circuit depths that characterize current quantum hardware.</a:t>
            </a:r>
          </a:p>
          <a:p>
            <a:pPr algn="l"/>
            <a:r>
              <a:rPr lang="en-US" sz="2000" dirty="0">
                <a:latin typeface="Times New Roman" panose="02020603050405020304" pitchFamily="18" charset="0"/>
                <a:cs typeface="Times New Roman" panose="02020603050405020304" pitchFamily="18" charset="0"/>
              </a:rPr>
              <a:t>Ultimately, as quantum hardware scales beyond the NISQ era with more qubits and lower error rates, the variational algorithms benchmarked in this study have the potential to unlock quantum advantage in real-world machine learning, offering capabilities that surpass classical approaches for complex classification problems.</a:t>
            </a:r>
          </a:p>
          <a:p>
            <a:pPr algn="l"/>
            <a:r>
              <a:rPr lang="en-US" sz="2000" dirty="0">
                <a:latin typeface="Times New Roman" panose="02020603050405020304" pitchFamily="18" charset="0"/>
                <a:cs typeface="Times New Roman" panose="02020603050405020304" pitchFamily="18" charset="0"/>
              </a:rPr>
              <a:t>These kinds of benchmarking studies are not just about achieving higher accuracy, but about building a foundational understanding of which quantum circuit designs and encoding strategies will drive the next generation of quantum-powered AI — bridging the gap between today's noisy processors and tomorrow's fault-tolerant quantum computers.</a:t>
            </a:r>
          </a:p>
          <a:p>
            <a:pPr algn="l"/>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5811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Variational Quantum Classifier (VQC)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23</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4F722719-0D0F-5E18-7F43-A7F200E76F83}"/>
              </a:ext>
            </a:extLst>
          </p:cNvPr>
          <p:cNvPicPr>
            <a:picLocks noChangeAspect="1"/>
          </p:cNvPicPr>
          <p:nvPr/>
        </p:nvPicPr>
        <p:blipFill>
          <a:blip r:embed="rId2"/>
          <a:stretch>
            <a:fillRect/>
          </a:stretch>
        </p:blipFill>
        <p:spPr>
          <a:xfrm>
            <a:off x="1530876" y="2169482"/>
            <a:ext cx="8716591" cy="3315163"/>
          </a:xfrm>
          <a:prstGeom prst="rect">
            <a:avLst/>
          </a:prstGeom>
        </p:spPr>
      </p:pic>
    </p:spTree>
    <p:extLst>
      <p:ext uri="{BB962C8B-B14F-4D97-AF65-F5344CB8AC3E}">
        <p14:creationId xmlns:p14="http://schemas.microsoft.com/office/powerpoint/2010/main" val="188242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Variational Quantum Classifier (VQC)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24</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8E1B79C8-37A9-98BA-6973-1F955560426E}"/>
              </a:ext>
            </a:extLst>
          </p:cNvPr>
          <p:cNvPicPr>
            <a:picLocks noChangeAspect="1"/>
          </p:cNvPicPr>
          <p:nvPr/>
        </p:nvPicPr>
        <p:blipFill>
          <a:blip r:embed="rId2"/>
          <a:stretch>
            <a:fillRect/>
          </a:stretch>
        </p:blipFill>
        <p:spPr>
          <a:xfrm>
            <a:off x="3052337" y="2289556"/>
            <a:ext cx="6087325" cy="3543795"/>
          </a:xfrm>
          <a:prstGeom prst="rect">
            <a:avLst/>
          </a:prstGeom>
        </p:spPr>
      </p:pic>
    </p:spTree>
    <p:extLst>
      <p:ext uri="{BB962C8B-B14F-4D97-AF65-F5344CB8AC3E}">
        <p14:creationId xmlns:p14="http://schemas.microsoft.com/office/powerpoint/2010/main" val="3827567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Variational Quantum Classifier (VQC)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25</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8600678B-8B2C-AC19-27AC-27E20CD8B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8600" y="1893748"/>
            <a:ext cx="9561408" cy="4593120"/>
          </a:xfrm>
          <a:prstGeom prst="rect">
            <a:avLst/>
          </a:prstGeom>
        </p:spPr>
      </p:pic>
    </p:spTree>
    <p:extLst>
      <p:ext uri="{BB962C8B-B14F-4D97-AF65-F5344CB8AC3E}">
        <p14:creationId xmlns:p14="http://schemas.microsoft.com/office/powerpoint/2010/main" val="4239089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Neural Network (QNN)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26</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D49174DE-7D74-E4C7-DC4F-D42FE0602255}"/>
              </a:ext>
            </a:extLst>
          </p:cNvPr>
          <p:cNvPicPr>
            <a:picLocks noChangeAspect="1"/>
          </p:cNvPicPr>
          <p:nvPr/>
        </p:nvPicPr>
        <p:blipFill>
          <a:blip r:embed="rId2"/>
          <a:stretch>
            <a:fillRect/>
          </a:stretch>
        </p:blipFill>
        <p:spPr>
          <a:xfrm>
            <a:off x="1947283" y="2289556"/>
            <a:ext cx="8297433" cy="3267531"/>
          </a:xfrm>
          <a:prstGeom prst="rect">
            <a:avLst/>
          </a:prstGeom>
        </p:spPr>
      </p:pic>
    </p:spTree>
    <p:extLst>
      <p:ext uri="{BB962C8B-B14F-4D97-AF65-F5344CB8AC3E}">
        <p14:creationId xmlns:p14="http://schemas.microsoft.com/office/powerpoint/2010/main" val="3894474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Neural Network (QNN)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27</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D5FC5256-589C-A6D6-2C38-B0E83D5EF7B4}"/>
              </a:ext>
            </a:extLst>
          </p:cNvPr>
          <p:cNvPicPr>
            <a:picLocks noChangeAspect="1"/>
          </p:cNvPicPr>
          <p:nvPr/>
        </p:nvPicPr>
        <p:blipFill>
          <a:blip r:embed="rId2"/>
          <a:stretch>
            <a:fillRect/>
          </a:stretch>
        </p:blipFill>
        <p:spPr>
          <a:xfrm>
            <a:off x="3199996" y="2031351"/>
            <a:ext cx="5792008" cy="3591426"/>
          </a:xfrm>
          <a:prstGeom prst="rect">
            <a:avLst/>
          </a:prstGeom>
        </p:spPr>
      </p:pic>
    </p:spTree>
    <p:extLst>
      <p:ext uri="{BB962C8B-B14F-4D97-AF65-F5344CB8AC3E}">
        <p14:creationId xmlns:p14="http://schemas.microsoft.com/office/powerpoint/2010/main" val="463579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Neural Network (QNN)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28</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175D3AAE-C3AE-F18B-6BA6-7C522DB77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4665" y="2155897"/>
            <a:ext cx="8722669" cy="4190206"/>
          </a:xfrm>
          <a:prstGeom prst="rect">
            <a:avLst/>
          </a:prstGeom>
        </p:spPr>
      </p:pic>
    </p:spTree>
    <p:extLst>
      <p:ext uri="{BB962C8B-B14F-4D97-AF65-F5344CB8AC3E}">
        <p14:creationId xmlns:p14="http://schemas.microsoft.com/office/powerpoint/2010/main" val="3170757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Convolutional Neural Network (QCNN)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29</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2DA769E-81F0-5702-A7BB-93A02A247D18}"/>
              </a:ext>
            </a:extLst>
          </p:cNvPr>
          <p:cNvPicPr>
            <a:picLocks noChangeAspect="1"/>
          </p:cNvPicPr>
          <p:nvPr/>
        </p:nvPicPr>
        <p:blipFill>
          <a:blip r:embed="rId2"/>
          <a:stretch>
            <a:fillRect/>
          </a:stretch>
        </p:blipFill>
        <p:spPr>
          <a:xfrm>
            <a:off x="1942520" y="2226640"/>
            <a:ext cx="8306959" cy="3200847"/>
          </a:xfrm>
          <a:prstGeom prst="rect">
            <a:avLst/>
          </a:prstGeom>
        </p:spPr>
      </p:pic>
    </p:spTree>
    <p:extLst>
      <p:ext uri="{BB962C8B-B14F-4D97-AF65-F5344CB8AC3E}">
        <p14:creationId xmlns:p14="http://schemas.microsoft.com/office/powerpoint/2010/main" val="55925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Convolutional Neural Network (QCNN)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30</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1AC65EDA-5845-4A5E-8CF2-5D70359BBD65}"/>
              </a:ext>
            </a:extLst>
          </p:cNvPr>
          <p:cNvPicPr>
            <a:picLocks noChangeAspect="1"/>
          </p:cNvPicPr>
          <p:nvPr/>
        </p:nvPicPr>
        <p:blipFill>
          <a:blip r:embed="rId2"/>
          <a:stretch>
            <a:fillRect/>
          </a:stretch>
        </p:blipFill>
        <p:spPr>
          <a:xfrm>
            <a:off x="3161890" y="2048750"/>
            <a:ext cx="5868219" cy="3562847"/>
          </a:xfrm>
          <a:prstGeom prst="rect">
            <a:avLst/>
          </a:prstGeom>
        </p:spPr>
      </p:pic>
    </p:spTree>
    <p:extLst>
      <p:ext uri="{BB962C8B-B14F-4D97-AF65-F5344CB8AC3E}">
        <p14:creationId xmlns:p14="http://schemas.microsoft.com/office/powerpoint/2010/main" val="2146935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Convolutional Neural Network (QCNN)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31</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4A51E1B-C6B1-A83A-5D3F-817E84BB3F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3724" y="2057400"/>
            <a:ext cx="8084551" cy="3883666"/>
          </a:xfrm>
          <a:prstGeom prst="rect">
            <a:avLst/>
          </a:prstGeom>
        </p:spPr>
      </p:pic>
    </p:spTree>
    <p:extLst>
      <p:ext uri="{BB962C8B-B14F-4D97-AF65-F5344CB8AC3E}">
        <p14:creationId xmlns:p14="http://schemas.microsoft.com/office/powerpoint/2010/main" val="3508424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Support Vector Machine (QSVM)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32</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A2A2E512-F578-EA57-CD20-9078CBDD733B}"/>
              </a:ext>
            </a:extLst>
          </p:cNvPr>
          <p:cNvPicPr>
            <a:picLocks noChangeAspect="1"/>
          </p:cNvPicPr>
          <p:nvPr/>
        </p:nvPicPr>
        <p:blipFill>
          <a:blip r:embed="rId2"/>
          <a:stretch>
            <a:fillRect/>
          </a:stretch>
        </p:blipFill>
        <p:spPr>
          <a:xfrm>
            <a:off x="1616666" y="2118982"/>
            <a:ext cx="9145276" cy="3924848"/>
          </a:xfrm>
          <a:prstGeom prst="rect">
            <a:avLst/>
          </a:prstGeom>
        </p:spPr>
      </p:pic>
    </p:spTree>
    <p:extLst>
      <p:ext uri="{BB962C8B-B14F-4D97-AF65-F5344CB8AC3E}">
        <p14:creationId xmlns:p14="http://schemas.microsoft.com/office/powerpoint/2010/main" val="786020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Support Vector Machine (QSVM)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33</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48F70CC6-B4C9-96C7-7BCA-5F1448D723C2}"/>
              </a:ext>
            </a:extLst>
          </p:cNvPr>
          <p:cNvPicPr>
            <a:picLocks noChangeAspect="1"/>
          </p:cNvPicPr>
          <p:nvPr/>
        </p:nvPicPr>
        <p:blipFill>
          <a:blip r:embed="rId2"/>
          <a:stretch>
            <a:fillRect/>
          </a:stretch>
        </p:blipFill>
        <p:spPr>
          <a:xfrm>
            <a:off x="3166653" y="2155897"/>
            <a:ext cx="5858693" cy="4010585"/>
          </a:xfrm>
          <a:prstGeom prst="rect">
            <a:avLst/>
          </a:prstGeom>
        </p:spPr>
      </p:pic>
    </p:spTree>
    <p:extLst>
      <p:ext uri="{BB962C8B-B14F-4D97-AF65-F5344CB8AC3E}">
        <p14:creationId xmlns:p14="http://schemas.microsoft.com/office/powerpoint/2010/main" val="2439517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Quantum Support Vector Machine (QSVM)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34</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15EB5CB1-8DE6-B4D8-9ABB-CE0CE59C6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4340" y="1981200"/>
            <a:ext cx="8609663" cy="4135920"/>
          </a:xfrm>
          <a:prstGeom prst="rect">
            <a:avLst/>
          </a:prstGeom>
        </p:spPr>
      </p:pic>
    </p:spTree>
    <p:extLst>
      <p:ext uri="{BB962C8B-B14F-4D97-AF65-F5344CB8AC3E}">
        <p14:creationId xmlns:p14="http://schemas.microsoft.com/office/powerpoint/2010/main" val="1080585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Variational Quantum Feature Embedding (VQFE)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35</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45B9623-4671-EB81-3468-6EACEE251C18}"/>
              </a:ext>
            </a:extLst>
          </p:cNvPr>
          <p:cNvPicPr>
            <a:picLocks noChangeAspect="1"/>
          </p:cNvPicPr>
          <p:nvPr/>
        </p:nvPicPr>
        <p:blipFill>
          <a:blip r:embed="rId2"/>
          <a:stretch>
            <a:fillRect/>
          </a:stretch>
        </p:blipFill>
        <p:spPr>
          <a:xfrm>
            <a:off x="2002482" y="2198061"/>
            <a:ext cx="8373644" cy="3258005"/>
          </a:xfrm>
          <a:prstGeom prst="rect">
            <a:avLst/>
          </a:prstGeom>
        </p:spPr>
      </p:pic>
    </p:spTree>
    <p:extLst>
      <p:ext uri="{BB962C8B-B14F-4D97-AF65-F5344CB8AC3E}">
        <p14:creationId xmlns:p14="http://schemas.microsoft.com/office/powerpoint/2010/main" val="4140620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Variational Quantum Feature Embedding (VQFE)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36</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073E875B-DAD2-2BF3-18A8-8476DE7FB2B2}"/>
              </a:ext>
            </a:extLst>
          </p:cNvPr>
          <p:cNvPicPr>
            <a:picLocks noChangeAspect="1"/>
          </p:cNvPicPr>
          <p:nvPr/>
        </p:nvPicPr>
        <p:blipFill>
          <a:blip r:embed="rId2"/>
          <a:stretch>
            <a:fillRect/>
          </a:stretch>
        </p:blipFill>
        <p:spPr>
          <a:xfrm>
            <a:off x="3176180" y="2289556"/>
            <a:ext cx="5839640" cy="3496163"/>
          </a:xfrm>
          <a:prstGeom prst="rect">
            <a:avLst/>
          </a:prstGeom>
        </p:spPr>
      </p:pic>
    </p:spTree>
    <p:extLst>
      <p:ext uri="{BB962C8B-B14F-4D97-AF65-F5344CB8AC3E}">
        <p14:creationId xmlns:p14="http://schemas.microsoft.com/office/powerpoint/2010/main" val="4040718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27D1-94B6-0498-3D37-124E9720D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2FB1-0062-EBC2-9F6E-08A97AD845E1}"/>
              </a:ext>
            </a:extLst>
          </p:cNvPr>
          <p:cNvSpPr txBox="1">
            <a:spLocks/>
          </p:cNvSpPr>
          <p:nvPr/>
        </p:nvSpPr>
        <p:spPr>
          <a:xfrm>
            <a:off x="631372" y="830334"/>
            <a:ext cx="10515600" cy="1325563"/>
          </a:xfrm>
          <a:prstGeom prst="rect">
            <a:avLst/>
          </a:prstGeom>
        </p:spPr>
        <p:txBody>
          <a:bodyPr/>
          <a:lst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3000" b="0" i="0" u="none" strike="noStrike" kern="1200" cap="all" spc="100" normalizeH="0" baseline="0" noProof="0" dirty="0">
              <a:ln>
                <a:noFill/>
              </a:ln>
              <a:solidFill>
                <a:srgbClr val="2E2B21">
                  <a:lumMod val="90000"/>
                  <a:lumOff val="10000"/>
                </a:srgbClr>
              </a:solidFill>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a:extLst>
              <a:ext uri="{FF2B5EF4-FFF2-40B4-BE49-F238E27FC236}">
                <a16:creationId xmlns:a16="http://schemas.microsoft.com/office/drawing/2014/main" id="{70D8B2D3-FFB5-8F3F-FD8D-8AB1D89B0BF5}"/>
              </a:ext>
            </a:extLst>
          </p:cNvPr>
          <p:cNvSpPr txBox="1">
            <a:spLocks/>
          </p:cNvSpPr>
          <p:nvPr/>
        </p:nvSpPr>
        <p:spPr>
          <a:xfrm>
            <a:off x="583162" y="1253330"/>
            <a:ext cx="11212285" cy="514746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pPr marL="409893" marR="0" lvl="0" indent="-285750" algn="just" defTabSz="914400" rtl="0" eaLnBrk="1" fontAlgn="auto" latinLnBrk="0" hangingPunct="1">
              <a:lnSpc>
                <a:spcPct val="150000"/>
              </a:lnSpc>
              <a:spcBef>
                <a:spcPts val="0"/>
              </a:spcBef>
              <a:spcAft>
                <a:spcPts val="200"/>
              </a:spcAft>
              <a:buClr>
                <a:srgbClr val="9CBEBD"/>
              </a:buClr>
              <a:buSzPts val="1955"/>
              <a:buFont typeface="Wingdings" panose="05000000000000000000" pitchFamily="2" charset="2"/>
              <a:buChar char="Ø"/>
              <a:tabLst/>
              <a:defRPr/>
            </a:pPr>
            <a:r>
              <a:rPr kumimoji="0" lang="en-US" sz="2000" b="1"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rPr>
              <a:t>Variational Quantum Feature Embedding (VQFE)   </a:t>
            </a:r>
            <a:endParaRPr kumimoji="0" lang="en-US" sz="2000" b="0" i="0" u="none" strike="noStrike" kern="1200" cap="none" spc="0" normalizeH="0" baseline="0" noProof="0" dirty="0">
              <a:ln>
                <a:noFill/>
              </a:ln>
              <a:solidFill>
                <a:srgbClr val="2E2B21"/>
              </a:solidFill>
              <a:effectLst/>
              <a:uLnTx/>
              <a:uFillTx/>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4">
            <a:extLst>
              <a:ext uri="{FF2B5EF4-FFF2-40B4-BE49-F238E27FC236}">
                <a16:creationId xmlns:a16="http://schemas.microsoft.com/office/drawing/2014/main" id="{6A007671-5DF7-F57C-D275-A37842B902D3}"/>
              </a:ext>
            </a:extLst>
          </p:cNvPr>
          <p:cNvSpPr/>
          <p:nvPr/>
        </p:nvSpPr>
        <p:spPr>
          <a:xfrm>
            <a:off x="583163" y="335899"/>
            <a:ext cx="11212285" cy="783772"/>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OUT</a:t>
            </a:r>
            <a:r>
              <a:rPr lang="en-US" sz="2400" b="1" kern="1200" dirty="0">
                <a:solidFill>
                  <a:srgbClr val="FFFFFF"/>
                </a:solidFill>
                <a:latin typeface="Times New Roman" panose="02020603050405020304" pitchFamily="18" charset="0"/>
                <a:cs typeface="Times New Roman" panose="02020603050405020304" pitchFamily="18" charset="0"/>
              </a:rPr>
              <a:t>PUT</a:t>
            </a:r>
            <a:endParaRPr kumimoji="0" lang="en-US" sz="24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Slide Number Placeholder 6">
            <a:extLst>
              <a:ext uri="{FF2B5EF4-FFF2-40B4-BE49-F238E27FC236}">
                <a16:creationId xmlns:a16="http://schemas.microsoft.com/office/drawing/2014/main" id="{0BDFBBB0-5C1C-129A-C2BC-01BFCF7DE4EF}"/>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4488C99-5207-49E7-AC01-B263DD2E34EB}" type="slidenum">
              <a:rPr kumimoji="0" lang="en-IN" sz="1800" i="0" u="none" strike="noStrike" kern="1200" cap="none" spc="0" normalizeH="0" baseline="0" noProof="0" smtClean="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37</a:t>
            </a:fld>
            <a:endParaRPr kumimoji="0" lang="en-IN" sz="1000" i="0" u="none" strike="noStrike" kern="1200" cap="none" spc="0" normalizeH="0" baseline="0" noProof="0" dirty="0">
              <a:ln>
                <a:noFill/>
              </a:ln>
              <a:solidFill>
                <a:srgbClr val="2E2B21">
                  <a:lumMod val="90000"/>
                  <a:lumOff val="10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C76B1B69-766D-87EC-6E2E-7C5DBF2197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280" y="2155704"/>
            <a:ext cx="7951783" cy="3819887"/>
          </a:xfrm>
          <a:prstGeom prst="rect">
            <a:avLst/>
          </a:prstGeom>
        </p:spPr>
      </p:pic>
    </p:spTree>
    <p:extLst>
      <p:ext uri="{BB962C8B-B14F-4D97-AF65-F5344CB8AC3E}">
        <p14:creationId xmlns:p14="http://schemas.microsoft.com/office/powerpoint/2010/main" val="35662978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25" dirty="0"/>
              <a:t>38</a:t>
            </a:fld>
            <a:endParaRPr spc="-25"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REFERENCES</a:t>
            </a:r>
          </a:p>
        </p:txBody>
      </p:sp>
      <p:sp>
        <p:nvSpPr>
          <p:cNvPr id="3" name="object 3"/>
          <p:cNvSpPr txBox="1"/>
          <p:nvPr/>
        </p:nvSpPr>
        <p:spPr>
          <a:xfrm>
            <a:off x="710285" y="1080421"/>
            <a:ext cx="10958195" cy="5476499"/>
          </a:xfrm>
          <a:prstGeom prst="rect">
            <a:avLst/>
          </a:prstGeom>
        </p:spPr>
        <p:txBody>
          <a:bodyPr vert="horz" wrap="square" lIns="0" tIns="13335" rIns="0" bIns="0" rtlCol="0">
            <a:spAutoFit/>
          </a:bodyPr>
          <a:lstStyle/>
          <a:p>
            <a:pPr marL="469900" marR="5715" indent="-457200" algn="just">
              <a:lnSpc>
                <a:spcPct val="100000"/>
              </a:lnSpc>
              <a:spcBef>
                <a:spcPts val="105"/>
              </a:spcBef>
              <a:buClr>
                <a:srgbClr val="B4C6E7"/>
              </a:buClr>
              <a:buAutoNum type="arabicPeriod"/>
              <a:tabLst>
                <a:tab pos="469900" algn="l"/>
              </a:tabLst>
            </a:pPr>
            <a:r>
              <a:rPr lang="en-IN" sz="2000" dirty="0">
                <a:latin typeface="Times New Roman" panose="02020603050405020304" pitchFamily="18" charset="0"/>
                <a:cs typeface="Times New Roman" panose="02020603050405020304" pitchFamily="18" charset="0"/>
              </a:rPr>
              <a:t>C. N. Self et al., "Variational quantum algorithm with information sharing," </a:t>
            </a:r>
            <a:r>
              <a:rPr lang="en-IN" sz="2000" i="1" dirty="0" err="1">
                <a:latin typeface="Times New Roman" panose="02020603050405020304" pitchFamily="18" charset="0"/>
                <a:cs typeface="Times New Roman" panose="02020603050405020304" pitchFamily="18" charset="0"/>
              </a:rPr>
              <a:t>npj</a:t>
            </a:r>
            <a:r>
              <a:rPr lang="en-IN" sz="2000" i="1" dirty="0">
                <a:latin typeface="Times New Roman" panose="02020603050405020304" pitchFamily="18" charset="0"/>
                <a:cs typeface="Times New Roman" panose="02020603050405020304" pitchFamily="18" charset="0"/>
              </a:rPr>
              <a:t> Quantum Inf.</a:t>
            </a:r>
            <a:r>
              <a:rPr lang="en-IN" sz="2000" dirty="0">
                <a:latin typeface="Times New Roman" panose="02020603050405020304" pitchFamily="18" charset="0"/>
                <a:cs typeface="Times New Roman" panose="02020603050405020304" pitchFamily="18" charset="0"/>
              </a:rPr>
              <a:t>, vol. 7, no. 1, p. 116, Jul. 2021,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10.1038/s41534-021-00452-9.</a:t>
            </a:r>
            <a:endParaRPr sz="2000" dirty="0">
              <a:latin typeface="Times New Roman" panose="02020603050405020304" pitchFamily="18" charset="0"/>
              <a:cs typeface="Times New Roman" panose="02020603050405020304" pitchFamily="18" charset="0"/>
            </a:endParaRPr>
          </a:p>
          <a:p>
            <a:pPr marL="469900" marR="5715" indent="-457200" algn="just">
              <a:lnSpc>
                <a:spcPct val="100000"/>
              </a:lnSpc>
              <a:spcBef>
                <a:spcPts val="300"/>
              </a:spcBef>
              <a:buClr>
                <a:srgbClr val="B4C6E7"/>
              </a:buClr>
              <a:buAutoNum type="arabicPeriod"/>
              <a:tabLst>
                <a:tab pos="469900" algn="l"/>
              </a:tabLst>
            </a:pPr>
            <a:r>
              <a:rPr lang="en-IN" sz="2000" dirty="0">
                <a:solidFill>
                  <a:srgbClr val="2D2B20"/>
                </a:solidFill>
                <a:latin typeface="Times New Roman" panose="02020603050405020304" pitchFamily="18" charset="0"/>
                <a:cs typeface="Times New Roman" panose="02020603050405020304" pitchFamily="18" charset="0"/>
              </a:rPr>
              <a:t>M. </a:t>
            </a:r>
            <a:r>
              <a:rPr lang="en-IN" sz="2000" dirty="0" err="1">
                <a:solidFill>
                  <a:srgbClr val="2D2B20"/>
                </a:solidFill>
                <a:latin typeface="Times New Roman" panose="02020603050405020304" pitchFamily="18" charset="0"/>
                <a:cs typeface="Times New Roman" panose="02020603050405020304" pitchFamily="18" charset="0"/>
              </a:rPr>
              <a:t>Larocca</a:t>
            </a:r>
            <a:r>
              <a:rPr lang="en-IN" sz="2000" dirty="0">
                <a:solidFill>
                  <a:srgbClr val="2D2B20"/>
                </a:solidFill>
                <a:latin typeface="Times New Roman" panose="02020603050405020304" pitchFamily="18" charset="0"/>
                <a:cs typeface="Times New Roman" panose="02020603050405020304" pitchFamily="18" charset="0"/>
              </a:rPr>
              <a:t>, P. </a:t>
            </a:r>
            <a:r>
              <a:rPr lang="en-IN" sz="2000" dirty="0" err="1">
                <a:solidFill>
                  <a:srgbClr val="2D2B20"/>
                </a:solidFill>
                <a:latin typeface="Times New Roman" panose="02020603050405020304" pitchFamily="18" charset="0"/>
                <a:cs typeface="Times New Roman" panose="02020603050405020304" pitchFamily="18" charset="0"/>
              </a:rPr>
              <a:t>Czarnik</a:t>
            </a:r>
            <a:r>
              <a:rPr lang="en-IN" sz="2000" dirty="0">
                <a:solidFill>
                  <a:srgbClr val="2D2B20"/>
                </a:solidFill>
                <a:latin typeface="Times New Roman" panose="02020603050405020304" pitchFamily="18" charset="0"/>
                <a:cs typeface="Times New Roman" panose="02020603050405020304" pitchFamily="18" charset="0"/>
              </a:rPr>
              <a:t>, K. Sharma, G. </a:t>
            </a:r>
            <a:r>
              <a:rPr lang="en-IN" sz="2000" dirty="0" err="1">
                <a:solidFill>
                  <a:srgbClr val="2D2B20"/>
                </a:solidFill>
                <a:latin typeface="Times New Roman" panose="02020603050405020304" pitchFamily="18" charset="0"/>
                <a:cs typeface="Times New Roman" panose="02020603050405020304" pitchFamily="18" charset="0"/>
              </a:rPr>
              <a:t>Muraleedharan</a:t>
            </a:r>
            <a:r>
              <a:rPr lang="en-IN" sz="2000" dirty="0">
                <a:solidFill>
                  <a:srgbClr val="2D2B20"/>
                </a:solidFill>
                <a:latin typeface="Times New Roman" panose="02020603050405020304" pitchFamily="18" charset="0"/>
                <a:cs typeface="Times New Roman" panose="02020603050405020304" pitchFamily="18" charset="0"/>
              </a:rPr>
              <a:t>, P. J. Coles, and M. </a:t>
            </a:r>
            <a:r>
              <a:rPr lang="en-IN" sz="2000" dirty="0" err="1">
                <a:solidFill>
                  <a:srgbClr val="2D2B20"/>
                </a:solidFill>
                <a:latin typeface="Times New Roman" panose="02020603050405020304" pitchFamily="18" charset="0"/>
                <a:cs typeface="Times New Roman" panose="02020603050405020304" pitchFamily="18" charset="0"/>
              </a:rPr>
              <a:t>Cerezo</a:t>
            </a:r>
            <a:r>
              <a:rPr lang="en-IN" sz="2000" dirty="0">
                <a:solidFill>
                  <a:srgbClr val="2D2B20"/>
                </a:solidFill>
                <a:latin typeface="Times New Roman" panose="02020603050405020304" pitchFamily="18" charset="0"/>
                <a:cs typeface="Times New Roman" panose="02020603050405020304" pitchFamily="18" charset="0"/>
              </a:rPr>
              <a:t>, "Diagnosing barren plateaus with tools from quantum optimal control," Quantum, vol. 6, p. 824, Sep. 2022, </a:t>
            </a:r>
            <a:r>
              <a:rPr lang="en-IN" sz="2000" dirty="0" err="1">
                <a:solidFill>
                  <a:srgbClr val="2D2B20"/>
                </a:solidFill>
                <a:latin typeface="Times New Roman" panose="02020603050405020304" pitchFamily="18" charset="0"/>
                <a:cs typeface="Times New Roman" panose="02020603050405020304" pitchFamily="18" charset="0"/>
              </a:rPr>
              <a:t>doi</a:t>
            </a:r>
            <a:r>
              <a:rPr lang="en-IN" sz="2000" dirty="0">
                <a:solidFill>
                  <a:srgbClr val="2D2B20"/>
                </a:solidFill>
                <a:latin typeface="Times New Roman" panose="02020603050405020304" pitchFamily="18" charset="0"/>
                <a:cs typeface="Times New Roman" panose="02020603050405020304" pitchFamily="18" charset="0"/>
              </a:rPr>
              <a:t>: 10.22331/q-2022-09-29-824.</a:t>
            </a:r>
          </a:p>
          <a:p>
            <a:pPr marL="469900" marR="5715" indent="-457200" algn="just">
              <a:lnSpc>
                <a:spcPct val="100000"/>
              </a:lnSpc>
              <a:spcBef>
                <a:spcPts val="300"/>
              </a:spcBef>
              <a:buClr>
                <a:srgbClr val="B4C6E7"/>
              </a:buClr>
              <a:buAutoNum type="arabicPeriod"/>
              <a:tabLst>
                <a:tab pos="469900" algn="l"/>
              </a:tabLst>
            </a:pPr>
            <a:r>
              <a:rPr lang="en-IN" sz="2000" dirty="0">
                <a:solidFill>
                  <a:srgbClr val="2D2B20"/>
                </a:solidFill>
                <a:latin typeface="Times New Roman" panose="02020603050405020304" pitchFamily="18" charset="0"/>
                <a:cs typeface="Times New Roman" panose="02020603050405020304" pitchFamily="18" charset="0"/>
              </a:rPr>
              <a:t>A. </a:t>
            </a:r>
            <a:r>
              <a:rPr lang="en-IN" sz="2000" dirty="0" err="1">
                <a:solidFill>
                  <a:srgbClr val="2D2B20"/>
                </a:solidFill>
                <a:latin typeface="Times New Roman" panose="02020603050405020304" pitchFamily="18" charset="0"/>
                <a:cs typeface="Times New Roman" panose="02020603050405020304" pitchFamily="18" charset="0"/>
              </a:rPr>
              <a:t>Arrasmith</a:t>
            </a:r>
            <a:r>
              <a:rPr lang="en-IN" sz="2000" dirty="0">
                <a:solidFill>
                  <a:srgbClr val="2D2B20"/>
                </a:solidFill>
                <a:latin typeface="Times New Roman" panose="02020603050405020304" pitchFamily="18" charset="0"/>
                <a:cs typeface="Times New Roman" panose="02020603050405020304" pitchFamily="18" charset="0"/>
              </a:rPr>
              <a:t>, Z. Holmes, M. </a:t>
            </a:r>
            <a:r>
              <a:rPr lang="en-IN" sz="2000" dirty="0" err="1">
                <a:solidFill>
                  <a:srgbClr val="2D2B20"/>
                </a:solidFill>
                <a:latin typeface="Times New Roman" panose="02020603050405020304" pitchFamily="18" charset="0"/>
                <a:cs typeface="Times New Roman" panose="02020603050405020304" pitchFamily="18" charset="0"/>
              </a:rPr>
              <a:t>Cerezo</a:t>
            </a:r>
            <a:r>
              <a:rPr lang="en-IN" sz="2000" dirty="0">
                <a:solidFill>
                  <a:srgbClr val="2D2B20"/>
                </a:solidFill>
                <a:latin typeface="Times New Roman" panose="02020603050405020304" pitchFamily="18" charset="0"/>
                <a:cs typeface="Times New Roman" panose="02020603050405020304" pitchFamily="18" charset="0"/>
              </a:rPr>
              <a:t>, and P. J. Coles, "Equivalence of quantum barren plateaus to cost concentration and narrow gorges," Quantum Sci. Technol., vol. 7, no. 4, p. 045015, Oct. 2022, </a:t>
            </a:r>
            <a:r>
              <a:rPr lang="en-IN" sz="2000" dirty="0" err="1">
                <a:solidFill>
                  <a:srgbClr val="2D2B20"/>
                </a:solidFill>
                <a:latin typeface="Times New Roman" panose="02020603050405020304" pitchFamily="18" charset="0"/>
                <a:cs typeface="Times New Roman" panose="02020603050405020304" pitchFamily="18" charset="0"/>
              </a:rPr>
              <a:t>doi</a:t>
            </a:r>
            <a:r>
              <a:rPr lang="en-IN" sz="2000" dirty="0">
                <a:solidFill>
                  <a:srgbClr val="2D2B20"/>
                </a:solidFill>
                <a:latin typeface="Times New Roman" panose="02020603050405020304" pitchFamily="18" charset="0"/>
                <a:cs typeface="Times New Roman" panose="02020603050405020304" pitchFamily="18" charset="0"/>
              </a:rPr>
              <a:t>: 10.1088/2058-9565/ac7d06.</a:t>
            </a:r>
          </a:p>
          <a:p>
            <a:pPr marL="469900" marR="5715" indent="-457200" algn="just">
              <a:lnSpc>
                <a:spcPct val="100000"/>
              </a:lnSpc>
              <a:spcBef>
                <a:spcPts val="300"/>
              </a:spcBef>
              <a:buClr>
                <a:srgbClr val="B4C6E7"/>
              </a:buClr>
              <a:buAutoNum type="arabicPeriod"/>
              <a:tabLst>
                <a:tab pos="469900" algn="l"/>
              </a:tabLst>
            </a:pPr>
            <a:r>
              <a:rPr lang="en-IN" sz="2000" dirty="0">
                <a:latin typeface="Times New Roman" panose="02020603050405020304" pitchFamily="18" charset="0"/>
                <a:cs typeface="Times New Roman" panose="02020603050405020304" pitchFamily="18" charset="0"/>
              </a:rPr>
              <a:t>C. Zhao and X.-S. Gao,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 barren plateau phenomenon in training quantum neural networks with the ZX-calculus," Quantum, vol. 5, p. 466, Jun. 2021,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10.22331/q-2021-06-04-466.</a:t>
            </a:r>
            <a:endParaRPr lang="en-IN" sz="2000" dirty="0">
              <a:solidFill>
                <a:srgbClr val="2D2B20"/>
              </a:solidFill>
              <a:latin typeface="Times New Roman" panose="02020603050405020304" pitchFamily="18" charset="0"/>
              <a:cs typeface="Times New Roman" panose="02020603050405020304" pitchFamily="18" charset="0"/>
            </a:endParaRPr>
          </a:p>
          <a:p>
            <a:pPr marL="468630" indent="-455930" algn="just">
              <a:lnSpc>
                <a:spcPct val="100000"/>
              </a:lnSpc>
              <a:spcBef>
                <a:spcPts val="300"/>
              </a:spcBef>
              <a:buClr>
                <a:srgbClr val="B4C6E7"/>
              </a:buClr>
              <a:buAutoNum type="arabicPeriod"/>
              <a:tabLst>
                <a:tab pos="468630" algn="l"/>
              </a:tabLst>
            </a:pPr>
            <a:r>
              <a:rPr lang="en-US" sz="2000" dirty="0">
                <a:latin typeface="Times New Roman" panose="02020603050405020304" pitchFamily="18" charset="0"/>
                <a:cs typeface="Times New Roman" panose="02020603050405020304" pitchFamily="18" charset="0"/>
              </a:rPr>
              <a:t>X. Wang, Y. Du, Y. Luo, and D. Tao, "Towards understanding the power of quantum kernels in the NISQ era," Quantum, vol. 5, p. 531, Aug. 2021,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10.22331/q-2021-08-30-531.</a:t>
            </a:r>
          </a:p>
          <a:p>
            <a:pPr marL="468630" indent="-455930" algn="just">
              <a:lnSpc>
                <a:spcPct val="100000"/>
              </a:lnSpc>
              <a:spcBef>
                <a:spcPts val="300"/>
              </a:spcBef>
              <a:buClr>
                <a:srgbClr val="B4C6E7"/>
              </a:buClr>
              <a:buAutoNum type="arabicPeriod"/>
              <a:tabLst>
                <a:tab pos="468630" algn="l"/>
              </a:tabLst>
            </a:pPr>
            <a:r>
              <a:rPr lang="en-IN" sz="2000" dirty="0">
                <a:solidFill>
                  <a:srgbClr val="2D2B20"/>
                </a:solidFill>
                <a:latin typeface="Times New Roman" panose="02020603050405020304" pitchFamily="18" charset="0"/>
                <a:cs typeface="Times New Roman" panose="02020603050405020304" pitchFamily="18" charset="0"/>
              </a:rPr>
              <a:t>J. </a:t>
            </a:r>
            <a:r>
              <a:rPr lang="en-IN" sz="2000" dirty="0" err="1">
                <a:solidFill>
                  <a:srgbClr val="2D2B20"/>
                </a:solidFill>
                <a:latin typeface="Times New Roman" panose="02020603050405020304" pitchFamily="18" charset="0"/>
                <a:cs typeface="Times New Roman" panose="02020603050405020304" pitchFamily="18" charset="0"/>
              </a:rPr>
              <a:t>Jäger</a:t>
            </a:r>
            <a:r>
              <a:rPr lang="en-IN" sz="2000" dirty="0">
                <a:solidFill>
                  <a:srgbClr val="2D2B20"/>
                </a:solidFill>
                <a:latin typeface="Times New Roman" panose="02020603050405020304" pitchFamily="18" charset="0"/>
                <a:cs typeface="Times New Roman" panose="02020603050405020304" pitchFamily="18" charset="0"/>
              </a:rPr>
              <a:t> and R. V. </a:t>
            </a:r>
            <a:r>
              <a:rPr lang="en-IN" sz="2000" dirty="0" err="1">
                <a:solidFill>
                  <a:srgbClr val="2D2B20"/>
                </a:solidFill>
                <a:latin typeface="Times New Roman" panose="02020603050405020304" pitchFamily="18" charset="0"/>
                <a:cs typeface="Times New Roman" panose="02020603050405020304" pitchFamily="18" charset="0"/>
              </a:rPr>
              <a:t>Krems</a:t>
            </a:r>
            <a:r>
              <a:rPr lang="en-IN" sz="2000" dirty="0">
                <a:solidFill>
                  <a:srgbClr val="2D2B20"/>
                </a:solidFill>
                <a:latin typeface="Times New Roman" panose="02020603050405020304" pitchFamily="18" charset="0"/>
                <a:cs typeface="Times New Roman" panose="02020603050405020304" pitchFamily="18" charset="0"/>
              </a:rPr>
              <a:t>, "Universal expressiveness of variational quantum classifiers and quantum kernels for support vector machines," Nat. </a:t>
            </a:r>
            <a:r>
              <a:rPr lang="en-IN" sz="2000" dirty="0" err="1">
                <a:solidFill>
                  <a:srgbClr val="2D2B20"/>
                </a:solidFill>
                <a:latin typeface="Times New Roman" panose="02020603050405020304" pitchFamily="18" charset="0"/>
                <a:cs typeface="Times New Roman" panose="02020603050405020304" pitchFamily="18" charset="0"/>
              </a:rPr>
              <a:t>Commun</a:t>
            </a:r>
            <a:r>
              <a:rPr lang="en-IN" sz="2000" dirty="0">
                <a:solidFill>
                  <a:srgbClr val="2D2B20"/>
                </a:solidFill>
                <a:latin typeface="Times New Roman" panose="02020603050405020304" pitchFamily="18" charset="0"/>
                <a:cs typeface="Times New Roman" panose="02020603050405020304" pitchFamily="18" charset="0"/>
              </a:rPr>
              <a:t>., vol. 14, no. 1, p. 576, Feb. 2023, </a:t>
            </a:r>
            <a:r>
              <a:rPr lang="en-IN" sz="2000" dirty="0" err="1">
                <a:solidFill>
                  <a:srgbClr val="2D2B20"/>
                </a:solidFill>
                <a:latin typeface="Times New Roman" panose="02020603050405020304" pitchFamily="18" charset="0"/>
                <a:cs typeface="Times New Roman" panose="02020603050405020304" pitchFamily="18" charset="0"/>
              </a:rPr>
              <a:t>doi</a:t>
            </a:r>
            <a:r>
              <a:rPr lang="en-IN" sz="2000" dirty="0">
                <a:solidFill>
                  <a:srgbClr val="2D2B20"/>
                </a:solidFill>
                <a:latin typeface="Times New Roman" panose="02020603050405020304" pitchFamily="18" charset="0"/>
                <a:cs typeface="Times New Roman" panose="02020603050405020304" pitchFamily="18" charset="0"/>
              </a:rPr>
              <a:t>: 10.1038/s41467-023-36144-5.</a:t>
            </a:r>
          </a:p>
          <a:p>
            <a:pPr marL="468630" indent="-455930" algn="just">
              <a:lnSpc>
                <a:spcPct val="100000"/>
              </a:lnSpc>
              <a:spcBef>
                <a:spcPts val="300"/>
              </a:spcBef>
              <a:buClr>
                <a:srgbClr val="B4C6E7"/>
              </a:buClr>
              <a:buAutoNum type="arabicPeriod"/>
              <a:tabLst>
                <a:tab pos="468630" algn="l"/>
              </a:tabLst>
            </a:pPr>
            <a:r>
              <a:rPr lang="en-IN" sz="2000" dirty="0">
                <a:solidFill>
                  <a:srgbClr val="2D2B20"/>
                </a:solidFill>
                <a:latin typeface="Times New Roman" panose="02020603050405020304" pitchFamily="18" charset="0"/>
                <a:cs typeface="Times New Roman" panose="02020603050405020304" pitchFamily="18" charset="0"/>
              </a:rPr>
              <a:t>S. </a:t>
            </a:r>
            <a:r>
              <a:rPr lang="en-IN" sz="2000" dirty="0" err="1">
                <a:solidFill>
                  <a:srgbClr val="2D2B20"/>
                </a:solidFill>
                <a:latin typeface="Times New Roman" panose="02020603050405020304" pitchFamily="18" charset="0"/>
                <a:cs typeface="Times New Roman" panose="02020603050405020304" pitchFamily="18" charset="0"/>
              </a:rPr>
              <a:t>Jerbi</a:t>
            </a:r>
            <a:r>
              <a:rPr lang="en-IN" sz="2000" dirty="0">
                <a:solidFill>
                  <a:srgbClr val="2D2B20"/>
                </a:solidFill>
                <a:latin typeface="Times New Roman" panose="02020603050405020304" pitchFamily="18" charset="0"/>
                <a:cs typeface="Times New Roman" panose="02020603050405020304" pitchFamily="18" charset="0"/>
              </a:rPr>
              <a:t> et al., "Quantum machine learning beyond kernel methods," Nat. </a:t>
            </a:r>
            <a:r>
              <a:rPr lang="en-IN" sz="2000" dirty="0" err="1">
                <a:solidFill>
                  <a:srgbClr val="2D2B20"/>
                </a:solidFill>
                <a:latin typeface="Times New Roman" panose="02020603050405020304" pitchFamily="18" charset="0"/>
                <a:cs typeface="Times New Roman" panose="02020603050405020304" pitchFamily="18" charset="0"/>
              </a:rPr>
              <a:t>Commun</a:t>
            </a:r>
            <a:r>
              <a:rPr lang="en-IN" sz="2000" dirty="0">
                <a:solidFill>
                  <a:srgbClr val="2D2B20"/>
                </a:solidFill>
                <a:latin typeface="Times New Roman" panose="02020603050405020304" pitchFamily="18" charset="0"/>
                <a:cs typeface="Times New Roman" panose="02020603050405020304" pitchFamily="18" charset="0"/>
              </a:rPr>
              <a:t>., vol. 14, no. 1, p. 517, Jan. 2023, </a:t>
            </a:r>
            <a:r>
              <a:rPr lang="en-IN" sz="2000" dirty="0" err="1">
                <a:solidFill>
                  <a:srgbClr val="2D2B20"/>
                </a:solidFill>
                <a:latin typeface="Times New Roman" panose="02020603050405020304" pitchFamily="18" charset="0"/>
                <a:cs typeface="Times New Roman" panose="02020603050405020304" pitchFamily="18" charset="0"/>
              </a:rPr>
              <a:t>doi</a:t>
            </a:r>
            <a:r>
              <a:rPr lang="en-IN" sz="2000" dirty="0">
                <a:solidFill>
                  <a:srgbClr val="2D2B20"/>
                </a:solidFill>
                <a:latin typeface="Times New Roman" panose="02020603050405020304" pitchFamily="18" charset="0"/>
                <a:cs typeface="Times New Roman" panose="02020603050405020304" pitchFamily="18" charset="0"/>
              </a:rPr>
              <a:t>: 10.1038/s41467-023-36159-y.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spc="-25" dirty="0"/>
              <a:t>39</a:t>
            </a:fld>
            <a:endParaRPr spc="-25" dirty="0"/>
          </a:p>
        </p:txBody>
      </p:sp>
      <p:sp>
        <p:nvSpPr>
          <p:cNvPr id="2" name="object 2"/>
          <p:cNvSpPr txBox="1">
            <a:spLocks noGrp="1"/>
          </p:cNvSpPr>
          <p:nvPr>
            <p:ph type="title"/>
          </p:nvPr>
        </p:nvSpPr>
        <p:spPr>
          <a:xfrm>
            <a:off x="631367" y="253441"/>
            <a:ext cx="11212830" cy="784225"/>
          </a:xfrm>
          <a:prstGeom prst="rect">
            <a:avLst/>
          </a:prstGeom>
          <a:solidFill>
            <a:srgbClr val="689C9A"/>
          </a:solidFill>
          <a:ln w="15872">
            <a:solidFill>
              <a:srgbClr val="454330"/>
            </a:solidFill>
          </a:ln>
        </p:spPr>
        <p:txBody>
          <a:bodyPr vert="horz" wrap="square" lIns="0" tIns="190500" rIns="0" bIns="0" rtlCol="0">
            <a:spAutoFit/>
          </a:bodyPr>
          <a:lstStyle/>
          <a:p>
            <a:pPr algn="ctr">
              <a:lnSpc>
                <a:spcPct val="100000"/>
              </a:lnSpc>
              <a:spcBef>
                <a:spcPts val="1500"/>
              </a:spcBef>
            </a:pPr>
            <a:r>
              <a:rPr spc="-10" dirty="0"/>
              <a:t>REFERENCES</a:t>
            </a:r>
          </a:p>
        </p:txBody>
      </p:sp>
      <p:sp>
        <p:nvSpPr>
          <p:cNvPr id="3" name="object 3"/>
          <p:cNvSpPr txBox="1"/>
          <p:nvPr/>
        </p:nvSpPr>
        <p:spPr>
          <a:xfrm>
            <a:off x="710285" y="1080421"/>
            <a:ext cx="10958195" cy="5643212"/>
          </a:xfrm>
          <a:prstGeom prst="rect">
            <a:avLst/>
          </a:prstGeom>
        </p:spPr>
        <p:txBody>
          <a:bodyPr vert="horz" wrap="square" lIns="0" tIns="13335" rIns="0" bIns="0" rtlCol="0">
            <a:spAutoFit/>
          </a:bodyPr>
          <a:lstStyle/>
          <a:p>
            <a:pPr marL="469900" marR="5715" indent="-457200" algn="just">
              <a:lnSpc>
                <a:spcPct val="100000"/>
              </a:lnSpc>
              <a:spcBef>
                <a:spcPts val="105"/>
              </a:spcBef>
              <a:buClr>
                <a:srgbClr val="B4C6E7"/>
              </a:buClr>
              <a:buFont typeface="+mj-lt"/>
              <a:buAutoNum type="arabicPeriod" startAt="8"/>
              <a:tabLst>
                <a:tab pos="469900" algn="l"/>
              </a:tabLst>
            </a:pPr>
            <a:r>
              <a:rPr lang="en-US" sz="2000" dirty="0">
                <a:latin typeface="Times New Roman" panose="02020603050405020304" pitchFamily="18" charset="0"/>
                <a:cs typeface="Times New Roman" panose="02020603050405020304" pitchFamily="18" charset="0"/>
              </a:rPr>
              <a:t>R. </a:t>
            </a:r>
            <a:r>
              <a:rPr lang="en-US" sz="2000" dirty="0" err="1">
                <a:latin typeface="Times New Roman" panose="02020603050405020304" pitchFamily="18" charset="0"/>
                <a:cs typeface="Times New Roman" panose="02020603050405020304" pitchFamily="18" charset="0"/>
              </a:rPr>
              <a:t>Shaydulin</a:t>
            </a:r>
            <a:r>
              <a:rPr lang="en-US" sz="2000" dirty="0">
                <a:latin typeface="Times New Roman" panose="02020603050405020304" pitchFamily="18" charset="0"/>
                <a:cs typeface="Times New Roman" panose="02020603050405020304" pitchFamily="18" charset="0"/>
              </a:rPr>
              <a:t> and S. M. Wild, "Importance of kernel bandwidth in quantum machine learning," Phys. Rev. A, vol. 106, no. 4, p. 042407, Oct. 2022,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10.1103/PhysRevA.106.042407.</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R. LaRose et al., "</a:t>
            </a:r>
            <a:r>
              <a:rPr lang="en-IN" sz="2000" dirty="0" err="1">
                <a:latin typeface="Times New Roman" panose="02020603050405020304" pitchFamily="18" charset="0"/>
                <a:cs typeface="Times New Roman" panose="02020603050405020304" pitchFamily="18" charset="0"/>
              </a:rPr>
              <a:t>Mitiq</a:t>
            </a:r>
            <a:r>
              <a:rPr lang="en-IN" sz="2000" dirty="0">
                <a:latin typeface="Times New Roman" panose="02020603050405020304" pitchFamily="18" charset="0"/>
                <a:cs typeface="Times New Roman" panose="02020603050405020304" pitchFamily="18" charset="0"/>
              </a:rPr>
              <a:t>: A software package for error mitigation on noisy quantum computers," Quantum, vol. 6, p. 774, Aug. 2022,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10.22331/q-2022-08-11-774.</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T. Kurita, H. Qassim, M. Ishii, H. Oshima, S. Sato, and J. Emerson, "Synergetic quantum error mitigation by randomized compiling and zero-noise extrapolation for the variational quantum </a:t>
            </a:r>
            <a:r>
              <a:rPr lang="en-IN" sz="2000" dirty="0" err="1">
                <a:latin typeface="Times New Roman" panose="02020603050405020304" pitchFamily="18" charset="0"/>
                <a:cs typeface="Times New Roman" panose="02020603050405020304" pitchFamily="18" charset="0"/>
              </a:rPr>
              <a:t>eigensolver</a:t>
            </a:r>
            <a:r>
              <a:rPr lang="en-IN" sz="2000" dirty="0">
                <a:latin typeface="Times New Roman" panose="02020603050405020304" pitchFamily="18" charset="0"/>
                <a:cs typeface="Times New Roman" panose="02020603050405020304" pitchFamily="18" charset="0"/>
              </a:rPr>
              <a:t>," Quantum, vol. 7, p. 1184, Nov. 2023,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10.22331/q-2023-11-20-1184.</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R. LaRose, A. Mari, P. J. Coles, P. J. </a:t>
            </a:r>
            <a:r>
              <a:rPr lang="en-IN" sz="2000" dirty="0" err="1">
                <a:latin typeface="Times New Roman" panose="02020603050405020304" pitchFamily="18" charset="0"/>
                <a:cs typeface="Times New Roman" panose="02020603050405020304" pitchFamily="18" charset="0"/>
              </a:rPr>
              <a:t>Karalekas</a:t>
            </a:r>
            <a:r>
              <a:rPr lang="en-IN" sz="2000" dirty="0">
                <a:latin typeface="Times New Roman" panose="02020603050405020304" pitchFamily="18" charset="0"/>
                <a:cs typeface="Times New Roman" panose="02020603050405020304" pitchFamily="18" charset="0"/>
              </a:rPr>
              <a:t>, N. Shammah, and W. J. Zeng, "Increasing the measured effective quantum volume with zero noise extrapolation," ACM Trans. Quantum </a:t>
            </a:r>
            <a:r>
              <a:rPr lang="en-IN" sz="2000" dirty="0" err="1">
                <a:latin typeface="Times New Roman" panose="02020603050405020304" pitchFamily="18" charset="0"/>
                <a:cs typeface="Times New Roman" panose="02020603050405020304" pitchFamily="18" charset="0"/>
              </a:rPr>
              <a:t>Comput</a:t>
            </a:r>
            <a:r>
              <a:rPr lang="en-IN" sz="2000" dirty="0">
                <a:latin typeface="Times New Roman" panose="02020603050405020304" pitchFamily="18" charset="0"/>
                <a:cs typeface="Times New Roman" panose="02020603050405020304" pitchFamily="18" charset="0"/>
              </a:rPr>
              <a:t>., vol. 5, no. 4, pp. 1–21, Dec. 2024,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10.1145/3680290.</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Y. Hama and H. Nishi, "Quantum error mitigation via quantum-noise-effect circuit groups," Sci. Rep., vol. 12, no. 1, p. 8945, May 2022,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10.1038/s41598-022-12797-2.</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S. Wang, Y. Shen, X. Liu, H. Zhang, and Y. Wang, "Variational quantum entanglement classification discrimination," </a:t>
            </a:r>
            <a:r>
              <a:rPr lang="en-IN" sz="2000" i="1" dirty="0" err="1">
                <a:latin typeface="Times New Roman" panose="02020603050405020304" pitchFamily="18" charset="0"/>
                <a:cs typeface="Times New Roman" panose="02020603050405020304" pitchFamily="18" charset="0"/>
              </a:rPr>
              <a:t>Physica</a:t>
            </a:r>
            <a:r>
              <a:rPr lang="en-IN" sz="2000" i="1" dirty="0">
                <a:latin typeface="Times New Roman" panose="02020603050405020304" pitchFamily="18" charset="0"/>
                <a:cs typeface="Times New Roman" panose="02020603050405020304" pitchFamily="18" charset="0"/>
              </a:rPr>
              <a:t> A</a:t>
            </a:r>
            <a:r>
              <a:rPr lang="en-IN" sz="2000" dirty="0">
                <a:latin typeface="Times New Roman" panose="02020603050405020304" pitchFamily="18" charset="0"/>
                <a:cs typeface="Times New Roman" panose="02020603050405020304" pitchFamily="18" charset="0"/>
              </a:rPr>
              <a:t>, vol. 637, p. 129530, Mar. 2024,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10.1016/j.physa.2024.129530.</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T.-R. Jin et al., "Purity-assisted zero-noise extrapolation for quantum error mitigation," Adv. Quantum Technol., vol. 7, no. 8, p. 2400150, Aug. 2024,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10.1002/qute.202400150.</a:t>
            </a:r>
          </a:p>
          <a:p>
            <a:pPr marL="469900" marR="5715" indent="-457200" algn="just">
              <a:lnSpc>
                <a:spcPct val="100000"/>
              </a:lnSpc>
              <a:spcBef>
                <a:spcPts val="105"/>
              </a:spcBef>
              <a:buClr>
                <a:srgbClr val="B4C6E7"/>
              </a:buClr>
              <a:buFont typeface="+mj-lt"/>
              <a:buAutoNum type="arabicPeriod" startAt="8"/>
              <a:tabLst>
                <a:tab pos="469900" algn="l"/>
              </a:tabLst>
            </a:pPr>
            <a:r>
              <a:rPr lang="en-IN" sz="2000" dirty="0">
                <a:latin typeface="Times New Roman" panose="02020603050405020304" pitchFamily="18" charset="0"/>
                <a:cs typeface="Times New Roman" panose="02020603050405020304" pitchFamily="18" charset="0"/>
              </a:rPr>
              <a:t>J. Schnabel and M. Roth, "Quantum kernel methods under scrutiny: A benchmarking study," Quantum Mach. </a:t>
            </a:r>
            <a:r>
              <a:rPr lang="en-IN" sz="2000" dirty="0" err="1">
                <a:latin typeface="Times New Roman" panose="02020603050405020304" pitchFamily="18" charset="0"/>
                <a:cs typeface="Times New Roman" panose="02020603050405020304" pitchFamily="18" charset="0"/>
              </a:rPr>
              <a:t>Intell</a:t>
            </a:r>
            <a:r>
              <a:rPr lang="en-IN" sz="2000" dirty="0">
                <a:latin typeface="Times New Roman" panose="02020603050405020304" pitchFamily="18" charset="0"/>
                <a:cs typeface="Times New Roman" panose="02020603050405020304" pitchFamily="18" charset="0"/>
              </a:rPr>
              <a:t>., vol. 7, no. 1, p. 58, 2025,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10.1007/s42484-025-00273-5.</a:t>
            </a:r>
          </a:p>
        </p:txBody>
      </p:sp>
    </p:spTree>
    <p:extLst>
      <p:ext uri="{BB962C8B-B14F-4D97-AF65-F5344CB8AC3E}">
        <p14:creationId xmlns:p14="http://schemas.microsoft.com/office/powerpoint/2010/main" val="3782277198"/>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2811</TotalTime>
  <Words>3309</Words>
  <Application>Microsoft Office PowerPoint</Application>
  <PresentationFormat>Widescreen</PresentationFormat>
  <Paragraphs>252</Paragraphs>
  <Slides>39</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39</vt:i4>
      </vt:variant>
    </vt:vector>
  </HeadingPairs>
  <TitlesOfParts>
    <vt:vector size="51" baseType="lpstr">
      <vt:lpstr>Arial</vt:lpstr>
      <vt:lpstr>Calibri</vt:lpstr>
      <vt:lpstr>Calibri </vt:lpstr>
      <vt:lpstr>Georgia</vt:lpstr>
      <vt:lpstr>Times New Roman</vt:lpstr>
      <vt:lpstr>Trebuchet MS</vt:lpstr>
      <vt:lpstr>Tw Cen MT</vt:lpstr>
      <vt:lpstr>Tw Cen MT Condensed</vt:lpstr>
      <vt:lpstr>Wingdings</vt:lpstr>
      <vt:lpstr>Wingdings 3</vt:lpstr>
      <vt:lpstr>Office Theme</vt:lpstr>
      <vt:lpstr>Integral</vt:lpstr>
      <vt:lpstr>PowerPoint Presentation</vt:lpstr>
      <vt:lpstr>OUTLINE</vt:lpstr>
      <vt:lpstr>ABSTRACT</vt:lpstr>
      <vt:lpstr>ABSTRACT</vt:lpstr>
      <vt:lpstr>INTRODUCTION</vt:lpstr>
      <vt:lpstr>INTRODUCTION</vt:lpstr>
      <vt:lpstr>DATASET DESCRIPTION</vt:lpstr>
      <vt:lpstr>DATASET DESCRIPTION</vt:lpstr>
      <vt:lpstr>DATASET DESCRIPTION</vt:lpstr>
      <vt:lpstr>LITERATURE SURVEY</vt:lpstr>
      <vt:lpstr>LITERATURE SURVEY</vt:lpstr>
      <vt:lpstr>LITERATURE SURVEY</vt:lpstr>
      <vt:lpstr>LITERATURE SURVEY</vt:lpstr>
      <vt:lpstr>LITERATURE SURVEY</vt:lpstr>
      <vt:lpstr>LITERATURE SURVEY</vt:lpstr>
      <vt:lpstr>LITERATURE SURVEY</vt:lpstr>
      <vt:lpstr>LITERATURE SURVEY</vt:lpstr>
      <vt:lpstr>RESULT AND DISCUSSION</vt:lpstr>
      <vt:lpstr>RESULT AND DISCUSSION</vt:lpstr>
      <vt:lpstr>PowerPoint Presentation</vt:lpstr>
      <vt:lpstr>PowerPoint Presentation</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Mevin jaison,ashbin bijoy S6 B.Voc Data Science Reg.No :THawboa040,THAWBOA033</dc:title>
  <dc:creator>REJIN VARGHESE</dc:creator>
  <cp:lastModifiedBy>Nirmal John</cp:lastModifiedBy>
  <cp:revision>55</cp:revision>
  <dcterms:created xsi:type="dcterms:W3CDTF">2025-11-24T16:10:39Z</dcterms:created>
  <dcterms:modified xsi:type="dcterms:W3CDTF">2026-02-18T18:39:19Z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2025-03-31T00:00:00Z</vt:filetime>
  </property>
  <property fmtid="{D5CDD505-2E9C-101B-9397-08002B2CF9AE}" pid="3" name="Creator">
    <vt:lpwstr>Microsoft® PowerPoint® LTSC</vt:lpwstr>
  </property>
  <property fmtid="{D5CDD505-2E9C-101B-9397-08002B2CF9AE}" pid="4" name="LastSaved">
    <vt:filetime>2025-11-24T00:00:00Z</vt:filetime>
  </property>
  <property fmtid="{D5CDD505-2E9C-101B-9397-08002B2CF9AE}" pid="5" name="Producer">
    <vt:lpwstr>Microsoft® PowerPoint® LTSC</vt:lpwstr>
  </property>
</Properties>
</file>